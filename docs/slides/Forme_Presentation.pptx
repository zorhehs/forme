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fd9bc1f5414a00" /><Relationship Type="http://schemas.openxmlformats.org/officeDocument/2006/relationships/extended-properties" Target="/docProps/app.xml" Id="R2c10b1dd8a2b4b8c" /><Relationship Type="http://schemas.openxmlformats.org/officeDocument/2006/relationships/officeDocument" Target="/ppt/presentation.xml" Id="R07c947eceb624e26" /></Relationships>
</file>

<file path=ppt/presentation.xml><?xml version="1.0" encoding="utf-8"?>
<p:presentation xmlns:p="http://schemas.openxmlformats.org/presentationml/2006/main">
  <p:sldMasterIdLst>
    <p:sldMasterId xmlns:r="http://schemas.openxmlformats.org/officeDocument/2006/relationships" id="2147483648" r:id="Rf35248f9ff504a94"/>
  </p:sldMasterIdLst>
  <p:notesMasterIdLst>
    <p:notesMasterId xmlns:r="http://schemas.openxmlformats.org/officeDocument/2006/relationships" r:id="Ra3a366e4f08a4154"/>
  </p:notesMasterIdLst>
  <p:sldIdLst>
    <p:sldId xmlns:r="http://schemas.openxmlformats.org/officeDocument/2006/relationships" id="256" r:id="R5a0dc6d024c94b48"/>
    <p:sldId xmlns:r="http://schemas.openxmlformats.org/officeDocument/2006/relationships" id="257" r:id="R47accf2392e74ca8"/>
    <p:sldId xmlns:r="http://schemas.openxmlformats.org/officeDocument/2006/relationships" id="258" r:id="R7678a203c0a54e99"/>
    <p:sldId xmlns:r="http://schemas.openxmlformats.org/officeDocument/2006/relationships" id="259" r:id="R8384e5e9f7b64704"/>
    <p:sldId xmlns:r="http://schemas.openxmlformats.org/officeDocument/2006/relationships" id="260" r:id="Rd79e7040a3d64897"/>
    <p:sldId xmlns:r="http://schemas.openxmlformats.org/officeDocument/2006/relationships" id="261" r:id="R17c729ef9aed4801"/>
    <p:sldId xmlns:r="http://schemas.openxmlformats.org/officeDocument/2006/relationships" id="262" r:id="Rb065a33e95d34ccb"/>
    <p:sldId xmlns:r="http://schemas.openxmlformats.org/officeDocument/2006/relationships" id="263" r:id="R0fee1624003b4cf0"/>
    <p:sldId xmlns:r="http://schemas.openxmlformats.org/officeDocument/2006/relationships" id="264" r:id="Rc4df70dc690c4d98"/>
    <p:sldId xmlns:r="http://schemas.openxmlformats.org/officeDocument/2006/relationships" id="265" r:id="Ree00546d73684ba7"/>
    <p:sldId xmlns:r="http://schemas.openxmlformats.org/officeDocument/2006/relationships" id="266" r:id="R0a6ac157c28947f0"/>
    <p:sldId xmlns:r="http://schemas.openxmlformats.org/officeDocument/2006/relationships" id="267" r:id="R8e182de8225d40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5cfc6e9d764edb" /><Relationship Type="http://schemas.openxmlformats.org/officeDocument/2006/relationships/slideMaster" Target="/ppt/slideMasters/slideMaster1.xml" Id="Rf35248f9ff504a94" /><Relationship Type="http://schemas.openxmlformats.org/officeDocument/2006/relationships/notesMaster" Target="/ppt/notesMasters/notesMaster1.xml" Id="Ra3a366e4f08a4154" /><Relationship Type="http://schemas.openxmlformats.org/officeDocument/2006/relationships/presProps" Target="/ppt/presProps.xml" Id="Red005985ce594123" /><Relationship Type="http://schemas.openxmlformats.org/officeDocument/2006/relationships/tableStyles" Target="/ppt/tableStyles.xml" Id="Rb1ffc607c3614d31" /><Relationship Type="http://schemas.openxmlformats.org/officeDocument/2006/relationships/slide" Target="/ppt/slides/slide1.xml" Id="R5a0dc6d024c94b48" /><Relationship Type="http://schemas.openxmlformats.org/officeDocument/2006/relationships/slide" Target="/ppt/slides/slide2.xml" Id="R47accf2392e74ca8" /><Relationship Type="http://schemas.openxmlformats.org/officeDocument/2006/relationships/slide" Target="/ppt/slides/slide3.xml" Id="R7678a203c0a54e99" /><Relationship Type="http://schemas.openxmlformats.org/officeDocument/2006/relationships/slide" Target="/ppt/slides/slide4.xml" Id="R8384e5e9f7b64704" /><Relationship Type="http://schemas.openxmlformats.org/officeDocument/2006/relationships/slide" Target="/ppt/slides/slide5.xml" Id="Rd79e7040a3d64897" /><Relationship Type="http://schemas.openxmlformats.org/officeDocument/2006/relationships/slide" Target="/ppt/slides/slide6.xml" Id="R17c729ef9aed4801" /><Relationship Type="http://schemas.openxmlformats.org/officeDocument/2006/relationships/slide" Target="/ppt/slides/slide7.xml" Id="Rb065a33e95d34ccb" /><Relationship Type="http://schemas.openxmlformats.org/officeDocument/2006/relationships/slide" Target="/ppt/slides/slide8.xml" Id="R0fee1624003b4cf0" /><Relationship Type="http://schemas.openxmlformats.org/officeDocument/2006/relationships/slide" Target="/ppt/slides/slide9.xml" Id="Rc4df70dc690c4d98" /><Relationship Type="http://schemas.openxmlformats.org/officeDocument/2006/relationships/slide" Target="/ppt/slides/slide10.xml" Id="Ree00546d73684ba7" /><Relationship Type="http://schemas.openxmlformats.org/officeDocument/2006/relationships/slide" Target="/ppt/slides/slide11.xml" Id="R0a6ac157c28947f0" /><Relationship Type="http://schemas.openxmlformats.org/officeDocument/2006/relationships/slide" Target="/ppt/slides/slide12.xml" Id="R8e182de8225d40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1daf0222684b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c169147925477f" /><Relationship Type="http://schemas.openxmlformats.org/officeDocument/2006/relationships/notesMaster" Target="/ppt/notesMasters/notesMaster1.xml" Id="Rd1fa795660d647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a53f1631b6447b" /><Relationship Type="http://schemas.openxmlformats.org/officeDocument/2006/relationships/notesMaster" Target="/ppt/notesMasters/notesMaster1.xml" Id="R8c9347aa30b4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9d3c42686a4979" /><Relationship Type="http://schemas.openxmlformats.org/officeDocument/2006/relationships/notesMaster" Target="/ppt/notesMasters/notesMaster1.xml" Id="Ra8677308b92a48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79a6b25018400a" /><Relationship Type="http://schemas.openxmlformats.org/officeDocument/2006/relationships/notesMaster" Target="/ppt/notesMasters/notesMaster1.xml" Id="R068e11f289bc46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86e22e929a454d" /><Relationship Type="http://schemas.openxmlformats.org/officeDocument/2006/relationships/notesMaster" Target="/ppt/notesMasters/notesMaster1.xml" Id="Refd45b487e914d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14c6bbd6c34039" /><Relationship Type="http://schemas.openxmlformats.org/officeDocument/2006/relationships/notesMaster" Target="/ppt/notesMasters/notesMaster1.xml" Id="Rb36901ba96d143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120dd07ac2443b" /><Relationship Type="http://schemas.openxmlformats.org/officeDocument/2006/relationships/notesMaster" Target="/ppt/notesMasters/notesMaster1.xml" Id="R6de2b05bd1d14a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7412299e514a8d" /><Relationship Type="http://schemas.openxmlformats.org/officeDocument/2006/relationships/notesMaster" Target="/ppt/notesMasters/notesMaster1.xml" Id="Raefce846bab440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e9115325e642f4" /><Relationship Type="http://schemas.openxmlformats.org/officeDocument/2006/relationships/notesMaster" Target="/ppt/notesMasters/notesMaster1.xml" Id="R0fa6f97566a549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edfcd64d34bc6" /><Relationship Type="http://schemas.openxmlformats.org/officeDocument/2006/relationships/notesMaster" Target="/ppt/notesMasters/notesMaster1.xml" Id="Rb97389f0f76940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9967f0b8d24ec4" /><Relationship Type="http://schemas.openxmlformats.org/officeDocument/2006/relationships/notesMaster" Target="/ppt/notesMasters/notesMaster1.xml" Id="R114606f008734e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5de454b4ce4a76" /><Relationship Type="http://schemas.openxmlformats.org/officeDocument/2006/relationships/notesMaster" Target="/ppt/notesMasters/notesMaster1.xml" Id="R503e431d929145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Forme as a section-based visual website builder developed as a web engineering project. Explain that its main engineering choice is a structured page model shared by preview and export. The illustration is an existing asset from the project, not a screenshot of the editor. This is an implemented prototype with automated tests. It is not presented as production-ready or as a completed user study. Source: shared/page.js and PROJECT_PLAN.md.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addresses the coordination required between page structure, styling, responsive behavior, and portable output. These are design motivations, not surveyed user findings. Explain the deliberate scope: one page, predefined section types, explicit controls, and source code that can be inspected. Source: PROJECT_PLAN.md and shared/page.js. React background: https://react.dev/learn/thinking-in-react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intended user journey. A user starts from one of three templates or a blank page, adds sections from the library, edits content and styles, and checks the responsive canvas. The Code view is read-only. Account saving is separate from the browser draft. ZIP export is implemented, but the full download and reopening workflow is still awaiting browser validation. Source: src/main.jsx, shared/page.js,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blocks are navigation, hero, features, text, image, testimonial, call to action, and footer. State the bounds clearly: no arbitrary JavaScript, free positioning, collaboration, multi-page routing, or two-way source editing. Remote images are URL references rather than uploaded and bundled assets. Source: shared/page.js TYPES and validatePage; src/main.jsx.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two paths. The authoring path takes React state through a shared renderer into a sandboxed iframe or exported files. The persistence path sends same-origin API requests to Express and a storage adapter. Local JSON is the tested default; MongoDB is implemented as an optional adapter and has not yet been integration-tested. Source: src/main.jsx, shared/page.js, server/app.js, server/store.js, server/index.js.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JSON page is the source of editable state. Export is a projection of that model, not a persistence format for editing. This separation is also documented by GrapesJS, although Forme does not use GrapesJS. Preview and export use the same renderer. The preview adds a selection script; the exported page excludes it. Shared rendering reduces duplicated rules but does not by itself prove pixel equivalence. Sources: shared/page.js; https://grapesjs.com/docs/modules/Storage.html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browser drafts and account projects. Drafts are localStorage data shared within a browser profile, while project routes enforce owner checks on the server. User password hashes include random salts. Server storage contains hashed opaque session tokens. The MongoDB adapter creates indexes for email uniqueness, owners, and expiry. It is not the verified persistence backend yet. Source: server/store.js and server/app.js. Background: https://cheatsheetseries.owasp.org/cheatsheets/Session_Management_Cheat_Sheet.html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preview sandbox omits allow-same-origin and message handlers check their sender window. Text is escaped and URL protocols are restricted before rendering. Project authorization is server-side. Cookies are HTTP-only and SameSite=Lax, and become Secure in production. Authentication is rate-limited. The current scrypt defaults need a work-factor review before deployment. No claim of OWASP compliance or penetration-test coverage is made. Sources: server/app.js; shared/page.js; https://developer.mozilla.org/en-US/docs/Web/HTML/Reference/Elements/iframe ; https://developer.mozilla.org/en-US/docs/Web/API/Window/postMessage ; 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viewport presets, not measured device coverage. The canvas uses widths of 1200, 768, and 375 CSS pixels and scales its display to fit the workspace. Generated CSS changes its main grids at a 640-pixel breakpoint. The existing browser session was observed switching to the live Code view and to the mobile preset. This is limited UI evidence, not complete mobile usability validation. Source: src/main.jsx and shared/page.js.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tests passed in a fresh run on 9 October 2026. Five tests cover renderer behavior and the sixth exercises the account/project lifecycle with multiple assertions. The service test uses in-process HTTP request streams through the actual Express stack. It does not open a TCP port. Build output reported 334.53 kB JavaScript and 21.72 kB CSS, with gzip figures 104.85 kB and 5.64 kB. These values are editor artifacts, not page-speed metrics. No load test or user study was performed. Source: npm test and npm run build output; tests/api.test.js; tests/renderer.test.js.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Prioritize verification before broadening scope. Current limitations include single-page composition, fixed starter anchors, display-only footer labels, and remotely referenced image assets. MongoDB integration, complete export/download tests, and cross-browser checks remain outstanding. Production work includes password-parameter tuning, email verification/recovery, distributed rate limiting, and deployment review. A future usability study can measure task completion and assistance requests, but no such results currently exist. Source: README.md and project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demo: open Studio North, edit a hero heading, insert a testimonial, move it in Layers, undo one change, switch to mobile, inspect HTML/CSS, and export the site. If authentication is configured, save and reopen the project. Practice this sequence before presentation because complete browser workflow validation is pending. Conclude that the prototype connects visual editing to portable web output using a structured document and a shared renderer. Source: README.md, PROJECT_PLAN.md, and the project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03bd90226245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f7ae5de2dd48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a6db964a6b46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63a5ec7bad4a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9bd85f4e3745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fc8b905f5c48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21C886-3797-4743-B7AF-D6808F323D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54C42D-2F25-459A-8582-3EEE2BE5E4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FB3B2C-B091-4BCA-A260-30395FBEB5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1180F3-133A-4681-A080-62402D601F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04A38B-AE9A-4C9E-ADA6-DFEA530E44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425716-4A10-47EE-9E4A-EC0FEE2C7E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56BC6-FE01-4B76-B9E7-C991D418E9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CA41E8-2340-409F-8545-0505EBE9E4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9DE4F0-805D-44AF-9714-2196A08E74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471F3A-1965-41C6-91AB-AEDD1473C4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e93498b7354056" /><Relationship Type="http://schemas.openxmlformats.org/officeDocument/2006/relationships/slideLayout" Target="/ppt/slideLayouts/slideLayout1.xml" Id="R45ad6db01c1147e4" /><Relationship Type="http://schemas.openxmlformats.org/officeDocument/2006/relationships/slideLayout" Target="/ppt/slideLayouts/slideLayout2.xml" Id="R73225ac803254c4c" /><Relationship Type="http://schemas.openxmlformats.org/officeDocument/2006/relationships/slideLayout" Target="/ppt/slideLayouts/slideLayout3.xml" Id="R2e65914d5ace4f9b" /><Relationship Type="http://schemas.openxmlformats.org/officeDocument/2006/relationships/slideLayout" Target="/ppt/slideLayouts/slideLayout4.xml" Id="R2367bb2797154162" /><Relationship Type="http://schemas.openxmlformats.org/officeDocument/2006/relationships/slideLayout" Target="/ppt/slideLayouts/slideLayout5.xml" Id="R9aaa21207e344809" /><Relationship Type="http://schemas.openxmlformats.org/officeDocument/2006/relationships/slideLayout" Target="/ppt/slideLayouts/slideLayout6.xml" Id="R89e161d2e50945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ad6db01c1147e4"/>
    <p:sldLayoutId xmlns:r="http://schemas.openxmlformats.org/officeDocument/2006/relationships" id="2147483650" r:id="R73225ac803254c4c"/>
    <p:sldLayoutId xmlns:r="http://schemas.openxmlformats.org/officeDocument/2006/relationships" id="2147483651" r:id="R2e65914d5ace4f9b"/>
    <p:sldLayoutId xmlns:r="http://schemas.openxmlformats.org/officeDocument/2006/relationships" id="2147483652" r:id="R2367bb2797154162"/>
    <p:sldLayoutId xmlns:r="http://schemas.openxmlformats.org/officeDocument/2006/relationships" id="2147483653" r:id="R9aaa21207e344809"/>
    <p:sldLayoutId xmlns:r="http://schemas.openxmlformats.org/officeDocument/2006/relationships" id="2147483654" r:id="R89e161d2e50945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de08d870a04c0e" /><Relationship Type="http://schemas.openxmlformats.org/officeDocument/2006/relationships/image" Target="/ppt/media/image.png" Id="R42262a1ba63a405f" /><Relationship Type="http://schemas.openxmlformats.org/officeDocument/2006/relationships/notesSlide" Target="/ppt/notesSlides/notesSlide1.xml" Id="R6c023480a34b48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dd3ed89b4e4591" /><Relationship Type="http://schemas.openxmlformats.org/officeDocument/2006/relationships/notesSlide" Target="/ppt/notesSlides/notesSlide2.xml" Id="Ra6fba5cdfa3647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0b9ce020154672" /><Relationship Type="http://schemas.openxmlformats.org/officeDocument/2006/relationships/notesSlide" Target="/ppt/notesSlides/notesSlide3.xml" Id="R6d668cb8d78044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5e277f72aa43fa" /><Relationship Type="http://schemas.openxmlformats.org/officeDocument/2006/relationships/notesSlide" Target="/ppt/notesSlides/notesSlide4.xml" Id="R3256967a0cba4d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f014d9653d4638" /><Relationship Type="http://schemas.openxmlformats.org/officeDocument/2006/relationships/notesSlide" Target="/ppt/notesSlides/notesSlide5.xml" Id="R9073b6928e5c4b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cad83a9361405f" /><Relationship Type="http://schemas.openxmlformats.org/officeDocument/2006/relationships/notesSlide" Target="/ppt/notesSlides/notesSlide6.xml" Id="Rf6a631679b2f42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e77f5d329c40c6" /><Relationship Type="http://schemas.openxmlformats.org/officeDocument/2006/relationships/notesSlide" Target="/ppt/notesSlides/notesSlide7.xml" Id="R4faffee405ce43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985ca8bd24444e" /><Relationship Type="http://schemas.openxmlformats.org/officeDocument/2006/relationships/notesSlide" Target="/ppt/notesSlides/notesSlide8.xml" Id="R22071ea539bb4e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c3adaa0ded41aa" /><Relationship Type="http://schemas.openxmlformats.org/officeDocument/2006/relationships/notesSlide" Target="/ppt/notesSlides/notesSlide9.xml" Id="R0d91d8edeb7f40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9a1d32f751402a" /><Relationship Type="http://schemas.openxmlformats.org/officeDocument/2006/relationships/notesSlide" Target="/ppt/notesSlides/notesSlide10.xml" Id="Re085dc69e10f44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ed95af5c9846b0" /><Relationship Type="http://schemas.openxmlformats.org/officeDocument/2006/relationships/notesSlide" Target="/ppt/notesSlides/notesSlide11.xml" Id="Rb0347c8eafdf4d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0ddf166e79d4edc" /><Relationship Type="http://schemas.openxmlformats.org/officeDocument/2006/relationships/notesSlide" Target="/ppt/notesSlides/notesSlide12.xml" Id="R17f5830908034e0f" /></Relationships>
</file>

<file path=ppt/slides/slide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text-1-0">
            <a:extLst xmlns:a="http://schemas.openxmlformats.org/drawingml/2006/main">
              <a:ext uri="{FF2B5EF4-FFF2-40B4-BE49-F238E27FC236}">
                <a16:creationId xmlns:a16="http://schemas.microsoft.com/office/drawing/2014/main" id="{D3BD77DE-0F98-4F1E-B07C-44E440562033}"/>
              </a:ext>
            </a:extLst>
          </p:cNvPr>
          <p:cNvSpPr>
            <a:spLocks xmlns:a="http://schemas.openxmlformats.org/drawingml/2006/main" noGrp="1"/>
          </p:cNvSpPr>
          <p:nvPr/>
        </p:nvSpPr>
        <p:spPr>
          <a:xfrm xmlns:a="http://schemas.openxmlformats.org/drawingml/2006/main">
            <a:off x="628650" y="952500"/>
            <a:ext cx="647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0" b="1">
                <a:solidFill>
                  <a:srgbClr val="263D32"/>
                </a:solidFill>
                <a:latin typeface="Arial"/>
                <a:ea typeface="Arial"/>
                <a:cs typeface="Arial"/>
              </a:defRPr>
            </a:defPPr>
          </a:lstStyle>
          <a:p xmlns:a="http://schemas.openxmlformats.org/drawingml/2006/main">
            <a:pPr>
              <a:defRPr sz="9300" b="1">
                <a:solidFill>
                  <a:srgbClr val="263D32"/>
                </a:solidFill>
                <a:latin typeface="Arial"/>
                <a:ea typeface="Arial"/>
                <a:cs typeface="Arial"/>
              </a:defRPr>
            </a:pPr>
            <a:r>
              <a:rPr sz="9300" b="1">
                <a:solidFill>
                  <a:srgbClr val="263D32"/>
                </a:solidFill>
                <a:latin typeface="Arial"/>
                <a:ea typeface="Arial"/>
                <a:cs typeface="Arial"/>
              </a:rPr>
              <a:t>forme.</a:t>
            </a:r>
          </a:p>
        </p:txBody>
      </p:sp>
      <p:sp>
        <p:nvSpPr>
          <p:cNvPr id="2" name="text-1-1">
            <a:extLst xmlns:a="http://schemas.openxmlformats.org/drawingml/2006/main">
              <a:ext uri="{FF2B5EF4-FFF2-40B4-BE49-F238E27FC236}">
                <a16:creationId xmlns:a16="http://schemas.microsoft.com/office/drawing/2014/main" id="{AC82C140-5897-4ADC-AE7D-A718ED69DB4D}"/>
              </a:ext>
            </a:extLst>
          </p:cNvPr>
          <p:cNvSpPr>
            <a:spLocks xmlns:a="http://schemas.openxmlformats.org/drawingml/2006/main" noGrp="1"/>
          </p:cNvSpPr>
          <p:nvPr/>
        </p:nvSpPr>
        <p:spPr>
          <a:xfrm xmlns:a="http://schemas.openxmlformats.org/drawingml/2006/main">
            <a:off x="685800" y="2952750"/>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0">
                <a:solidFill>
                  <a:srgbClr val="263D32"/>
                </a:solidFill>
                <a:latin typeface="Arial"/>
                <a:ea typeface="Arial"/>
                <a:cs typeface="Arial"/>
              </a:defRPr>
            </a:defPPr>
          </a:lstStyle>
          <a:p xmlns:a="http://schemas.openxmlformats.org/drawingml/2006/main">
            <a:pPr>
              <a:defRPr sz="3000" b="0">
                <a:solidFill>
                  <a:srgbClr val="263D32"/>
                </a:solidFill>
                <a:latin typeface="Arial"/>
                <a:ea typeface="Arial"/>
                <a:cs typeface="Arial"/>
              </a:defRPr>
            </a:pPr>
            <a:r>
              <a:rPr sz="3000" b="0">
                <a:solidFill>
                  <a:srgbClr val="263D32"/>
                </a:solidFill>
                <a:latin typeface="Arial"/>
                <a:ea typeface="Arial"/>
                <a:cs typeface="Arial"/>
              </a:rPr>
              <a:t>A visual website builder</a:t>
            </a:r>
          </a:p>
          <a:p xmlns:a="http://schemas.openxmlformats.org/drawingml/2006/main">
            <a:pPr>
              <a:defRPr sz="3000" b="0">
                <a:solidFill>
                  <a:srgbClr val="263D32"/>
                </a:solidFill>
                <a:latin typeface="Arial"/>
                <a:ea typeface="Arial"/>
                <a:cs typeface="Arial"/>
              </a:defRPr>
            </a:pPr>
            <a:r>
              <a:rPr sz="3000" b="0">
                <a:solidFill>
                  <a:srgbClr val="263D32"/>
                </a:solidFill>
                <a:latin typeface="Arial"/>
                <a:ea typeface="Arial"/>
                <a:cs typeface="Arial"/>
              </a:rPr>
              <a:t>with portable HTML and CSS</a:t>
            </a:r>
          </a:p>
        </p:txBody>
      </p:sp>
      <p:sp>
        <p:nvSpPr>
          <p:cNvPr id="3" name="text-1-2">
            <a:extLst xmlns:a="http://schemas.openxmlformats.org/drawingml/2006/main">
              <a:ext uri="{FF2B5EF4-FFF2-40B4-BE49-F238E27FC236}">
                <a16:creationId xmlns:a16="http://schemas.microsoft.com/office/drawing/2014/main" id="{0CCCB753-DC0D-44DB-A453-6825BB361EC4}"/>
              </a:ext>
            </a:extLst>
          </p:cNvPr>
          <p:cNvSpPr>
            <a:spLocks xmlns:a="http://schemas.openxmlformats.org/drawingml/2006/main" noGrp="1"/>
          </p:cNvSpPr>
          <p:nvPr/>
        </p:nvSpPr>
        <p:spPr>
          <a:xfrm xmlns:a="http://schemas.openxmlformats.org/drawingml/2006/main">
            <a:off x="685800" y="5095875"/>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A603B"/>
                </a:solidFill>
                <a:latin typeface="Arial"/>
                <a:ea typeface="Arial"/>
                <a:cs typeface="Arial"/>
              </a:defRPr>
            </a:defPPr>
          </a:lstStyle>
          <a:p xmlns:a="http://schemas.openxmlformats.org/drawingml/2006/main">
            <a:pPr>
              <a:defRPr sz="1800" b="1">
                <a:solidFill>
                  <a:srgbClr val="CA603B"/>
                </a:solidFill>
                <a:latin typeface="Arial"/>
                <a:ea typeface="Arial"/>
                <a:cs typeface="Arial"/>
              </a:defRPr>
            </a:pPr>
            <a:r>
              <a:rPr sz="1800" b="1">
                <a:solidFill>
                  <a:srgbClr val="CA603B"/>
                </a:solidFill>
                <a:latin typeface="Arial"/>
                <a:ea typeface="Arial"/>
                <a:cs typeface="Arial"/>
              </a:rPr>
              <a:t>Shehroz Riaz</a:t>
            </a:r>
          </a:p>
        </p:txBody>
      </p:sp>
      <p:sp>
        <p:nvSpPr>
          <p:cNvPr id="4" name="text-1-3">
            <a:extLst xmlns:a="http://schemas.openxmlformats.org/drawingml/2006/main">
              <a:ext uri="{FF2B5EF4-FFF2-40B4-BE49-F238E27FC236}">
                <a16:creationId xmlns:a16="http://schemas.microsoft.com/office/drawing/2014/main" id="{77B646DE-F54A-4571-883C-F4B63A3F8BE4}"/>
              </a:ext>
            </a:extLst>
          </p:cNvPr>
          <p:cNvSpPr>
            <a:spLocks xmlns:a="http://schemas.openxmlformats.org/drawingml/2006/main" noGrp="1"/>
          </p:cNvSpPr>
          <p:nvPr/>
        </p:nvSpPr>
        <p:spPr>
          <a:xfrm xmlns:a="http://schemas.openxmlformats.org/drawingml/2006/main">
            <a:off x="685800" y="54959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687561"/>
                </a:solidFill>
                <a:latin typeface="Arial"/>
                <a:ea typeface="Arial"/>
                <a:cs typeface="Arial"/>
              </a:defRPr>
            </a:defPPr>
          </a:lstStyle>
          <a:p xmlns:a="http://schemas.openxmlformats.org/drawingml/2006/main">
            <a:pPr>
              <a:defRPr sz="1650" b="0">
                <a:solidFill>
                  <a:srgbClr val="687561"/>
                </a:solidFill>
                <a:latin typeface="Arial"/>
                <a:ea typeface="Arial"/>
                <a:cs typeface="Arial"/>
              </a:defRPr>
            </a:pPr>
            <a:r>
              <a:rPr sz="1650" b="0">
                <a:solidFill>
                  <a:srgbClr val="687561"/>
                </a:solidFill>
                <a:latin typeface="Arial"/>
                <a:ea typeface="Arial"/>
                <a:cs typeface="Arial"/>
              </a:rPr>
              <a:t>Web Engineering Project</a:t>
            </a:r>
          </a:p>
        </p:txBody>
      </p:sp>
      <p:pic>
        <p:nvPicPr>
          <p:cNvPr id="5" name="">
            <a:extLst xmlns:a="http://schemas.openxmlformats.org/drawingml/2006/main">
              <a:ext uri="{FF2B5EF4-FFF2-40B4-BE49-F238E27FC236}">
                <a16:creationId xmlns:a16="http://schemas.microsoft.com/office/drawing/2014/main" id="{0045E8B0-0477-4139-8CBC-21FA5BB6F292}"/>
              </a:ext>
            </a:extLst>
          </p:cNvPr>
          <p:cNvPicPr>
            <a:picLocks xmlns:a="http://schemas.openxmlformats.org/drawingml/2006/main" noChangeAspect="1"/>
          </p:cNvPicPr>
          <p:nvPr/>
        </p:nvPicPr>
        <p:blipFill>
          <a:blip xmlns:r="http://schemas.openxmlformats.org/officeDocument/2006/relationships" xmlns:a="http://schemas.openxmlformats.org/drawingml/2006/main" r:embed="R42262a1ba63a405f"/>
          <a:stretch xmlns:a="http://schemas.openxmlformats.org/drawingml/2006/main"/>
        </p:blipFill>
        <p:spPr>
          <a:xfrm xmlns:a="http://schemas.openxmlformats.org/drawingml/2006/main">
            <a:off x="7202517" y="685800"/>
            <a:ext cx="4340165" cy="4600575"/>
          </a:xfrm>
          <a:prstGeom xmlns:a="http://schemas.openxmlformats.org/drawingml/2006/main" prst="rect">
            <a:avLst/>
          </a:prstGeom>
        </p:spPr>
      </p:pic>
      <p:sp>
        <p:nvSpPr>
          <p:cNvPr id="6" name="text-1-4">
            <a:extLst xmlns:a="http://schemas.openxmlformats.org/drawingml/2006/main">
              <a:ext uri="{FF2B5EF4-FFF2-40B4-BE49-F238E27FC236}">
                <a16:creationId xmlns:a16="http://schemas.microsoft.com/office/drawing/2014/main" id="{7FF68FDD-3363-44DB-9A9C-6BBB3BF6463B}"/>
              </a:ext>
            </a:extLst>
          </p:cNvPr>
          <p:cNvSpPr>
            <a:spLocks xmlns:a="http://schemas.openxmlformats.org/drawingml/2006/main" noGrp="1"/>
          </p:cNvSpPr>
          <p:nvPr/>
        </p:nvSpPr>
        <p:spPr>
          <a:xfrm xmlns:a="http://schemas.openxmlformats.org/drawingml/2006/main">
            <a:off x="7239000" y="55245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87561"/>
                </a:solidFill>
                <a:latin typeface="Arial"/>
                <a:ea typeface="Arial"/>
                <a:cs typeface="Arial"/>
              </a:defRPr>
            </a:defPPr>
          </a:lstStyle>
          <a:p xmlns:a="http://schemas.openxmlformats.org/drawingml/2006/main">
            <a:pPr>
              <a:defRPr sz="1200" b="0">
                <a:solidFill>
                  <a:srgbClr val="687561"/>
                </a:solidFill>
                <a:latin typeface="Arial"/>
                <a:ea typeface="Arial"/>
                <a:cs typeface="Arial"/>
              </a:defRPr>
            </a:pPr>
            <a:r>
              <a:rPr sz="1200" b="0">
                <a:solidFill>
                  <a:srgbClr val="687561"/>
                </a:solidFill>
                <a:latin typeface="Arial"/>
                <a:ea typeface="Arial"/>
                <a:cs typeface="Arial"/>
              </a:rPr>
              <a:t>Artwork from the Studio North template</a:t>
            </a:r>
          </a:p>
        </p:txBody>
      </p:sp>
    </p:spTree>
    <p:extLst>
      <p:ext uri="{BB962C8B-B14F-4D97-AF65-F5344CB8AC3E}">
        <p14:creationId xmlns:p14="http://schemas.microsoft.com/office/powerpoint/2010/main" val="80272462"/>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text-2-0">
            <a:extLst xmlns:a="http://schemas.openxmlformats.org/drawingml/2006/main">
              <a:ext uri="{FF2B5EF4-FFF2-40B4-BE49-F238E27FC236}">
                <a16:creationId xmlns:a16="http://schemas.microsoft.com/office/drawing/2014/main" id="{B3087465-6A4B-4725-8378-3D68D0CB5DF0}"/>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Project objective</a:t>
            </a:r>
          </a:p>
        </p:txBody>
      </p:sp>
      <p:sp>
        <p:nvSpPr>
          <p:cNvPr id="2" name="text-2-1">
            <a:extLst xmlns:a="http://schemas.openxmlformats.org/drawingml/2006/main">
              <a:ext uri="{FF2B5EF4-FFF2-40B4-BE49-F238E27FC236}">
                <a16:creationId xmlns:a16="http://schemas.microsoft.com/office/drawing/2014/main" id="{0C95819C-8285-4F1A-B367-068AA8EFAEF7}"/>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02</a:t>
            </a:r>
          </a:p>
        </p:txBody>
      </p:sp>
      <p:sp>
        <p:nvSpPr>
          <p:cNvPr id="3" name="text-2-2">
            <a:extLst xmlns:a="http://schemas.openxmlformats.org/drawingml/2006/main">
              <a:ext uri="{FF2B5EF4-FFF2-40B4-BE49-F238E27FC236}">
                <a16:creationId xmlns:a16="http://schemas.microsoft.com/office/drawing/2014/main" id="{0935E8FA-C00A-4590-8BE0-A4F1ED163296}"/>
              </a:ext>
            </a:extLst>
          </p:cNvPr>
          <p:cNvSpPr>
            <a:spLocks xmlns:a="http://schemas.openxmlformats.org/drawingml/2006/main" noGrp="1"/>
          </p:cNvSpPr>
          <p:nvPr/>
        </p:nvSpPr>
        <p:spPr>
          <a:xfrm xmlns:a="http://schemas.openxmlformats.org/drawingml/2006/main">
            <a:off x="628650" y="17526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263D32"/>
                </a:solidFill>
                <a:latin typeface="Arial"/>
                <a:ea typeface="Arial"/>
                <a:cs typeface="Arial"/>
              </a:defRPr>
            </a:defPPr>
          </a:lstStyle>
          <a:p xmlns:a="http://schemas.openxmlformats.org/drawingml/2006/main">
            <a:pPr>
              <a:defRPr sz="4200" b="1">
                <a:solidFill>
                  <a:srgbClr val="263D32"/>
                </a:solidFill>
                <a:latin typeface="Arial"/>
                <a:ea typeface="Arial"/>
                <a:cs typeface="Arial"/>
              </a:defRPr>
            </a:pPr>
            <a:r>
              <a:rPr sz="4200" b="1">
                <a:solidFill>
                  <a:srgbClr val="263D32"/>
                </a:solidFill>
                <a:latin typeface="Arial"/>
                <a:ea typeface="Arial"/>
                <a:cs typeface="Arial"/>
              </a:rPr>
              <a:t>Keep visual editing connected</a:t>
            </a:r>
          </a:p>
          <a:p xmlns:a="http://schemas.openxmlformats.org/drawingml/2006/main">
            <a:pPr>
              <a:defRPr sz="4200" b="1">
                <a:solidFill>
                  <a:srgbClr val="263D32"/>
                </a:solidFill>
                <a:latin typeface="Arial"/>
                <a:ea typeface="Arial"/>
                <a:cs typeface="Arial"/>
              </a:defRPr>
            </a:pPr>
            <a:r>
              <a:rPr sz="4200" b="1">
                <a:solidFill>
                  <a:srgbClr val="263D32"/>
                </a:solidFill>
                <a:latin typeface="Arial"/>
                <a:ea typeface="Arial"/>
                <a:cs typeface="Arial"/>
              </a:rPr>
              <a:t>to the web it creates.</a:t>
            </a:r>
          </a:p>
        </p:txBody>
      </p:sp>
      <p:sp>
        <p:nvSpPr>
          <p:cNvPr id="4" name="text-2-3">
            <a:extLst xmlns:a="http://schemas.openxmlformats.org/drawingml/2006/main">
              <a:ext uri="{FF2B5EF4-FFF2-40B4-BE49-F238E27FC236}">
                <a16:creationId xmlns:a16="http://schemas.microsoft.com/office/drawing/2014/main" id="{DFA6BAE5-DC62-4B9A-8DC6-13B0E5395F97}"/>
              </a:ext>
            </a:extLst>
          </p:cNvPr>
          <p:cNvSpPr>
            <a:spLocks xmlns:a="http://schemas.openxmlformats.org/drawingml/2006/main" noGrp="1"/>
          </p:cNvSpPr>
          <p:nvPr/>
        </p:nvSpPr>
        <p:spPr>
          <a:xfrm xmlns:a="http://schemas.openxmlformats.org/drawingml/2006/main">
            <a:off x="628650" y="37147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Authoring</a:t>
            </a:r>
          </a:p>
        </p:txBody>
      </p:sp>
      <p:sp>
        <p:nvSpPr>
          <p:cNvPr id="5" name="text-2-4">
            <a:extLst xmlns:a="http://schemas.openxmlformats.org/drawingml/2006/main">
              <a:ext uri="{FF2B5EF4-FFF2-40B4-BE49-F238E27FC236}">
                <a16:creationId xmlns:a16="http://schemas.microsoft.com/office/drawing/2014/main" id="{45DAE37C-C9B0-49FA-A244-5CE318C16F93}"/>
              </a:ext>
            </a:extLst>
          </p:cNvPr>
          <p:cNvSpPr>
            <a:spLocks xmlns:a="http://schemas.openxmlformats.org/drawingml/2006/main" noGrp="1"/>
          </p:cNvSpPr>
          <p:nvPr/>
        </p:nvSpPr>
        <p:spPr>
          <a:xfrm xmlns:a="http://schemas.openxmlformats.org/drawingml/2006/main">
            <a:off x="628650" y="42100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Assemble sections and change their content and appearance.</a:t>
            </a:r>
          </a:p>
        </p:txBody>
      </p:sp>
      <p:sp>
        <p:nvSpPr>
          <p:cNvPr id="6" name="text-2-5">
            <a:extLst xmlns:a="http://schemas.openxmlformats.org/drawingml/2006/main">
              <a:ext uri="{FF2B5EF4-FFF2-40B4-BE49-F238E27FC236}">
                <a16:creationId xmlns:a16="http://schemas.microsoft.com/office/drawing/2014/main" id="{A6A3A6F8-E8FF-4B8B-8297-684998E86D3C}"/>
              </a:ext>
            </a:extLst>
          </p:cNvPr>
          <p:cNvSpPr>
            <a:spLocks xmlns:a="http://schemas.openxmlformats.org/drawingml/2006/main" noGrp="1"/>
          </p:cNvSpPr>
          <p:nvPr/>
        </p:nvSpPr>
        <p:spPr>
          <a:xfrm xmlns:a="http://schemas.openxmlformats.org/drawingml/2006/main">
            <a:off x="628650" y="5048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Delivery</a:t>
            </a:r>
          </a:p>
        </p:txBody>
      </p:sp>
      <p:sp>
        <p:nvSpPr>
          <p:cNvPr id="7" name="text-2-6">
            <a:extLst xmlns:a="http://schemas.openxmlformats.org/drawingml/2006/main">
              <a:ext uri="{FF2B5EF4-FFF2-40B4-BE49-F238E27FC236}">
                <a16:creationId xmlns:a16="http://schemas.microsoft.com/office/drawing/2014/main" id="{93A0C599-CF1C-43C2-B37E-098A55E49A55}"/>
              </a:ext>
            </a:extLst>
          </p:cNvPr>
          <p:cNvSpPr>
            <a:spLocks xmlns:a="http://schemas.openxmlformats.org/drawingml/2006/main" noGrp="1"/>
          </p:cNvSpPr>
          <p:nvPr/>
        </p:nvSpPr>
        <p:spPr>
          <a:xfrm xmlns:a="http://schemas.openxmlformats.org/drawingml/2006/main">
            <a:off x="628650" y="55435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Export ordinary HTML and CSS that work without the editor.</a:t>
            </a:r>
          </a:p>
        </p:txBody>
      </p:sp>
    </p:spTree>
    <p:extLst>
      <p:ext uri="{BB962C8B-B14F-4D97-AF65-F5344CB8AC3E}">
        <p14:creationId xmlns:p14="http://schemas.microsoft.com/office/powerpoint/2010/main" val="265642185"/>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4" name="text-3-0">
            <a:extLst xmlns:a="http://schemas.openxmlformats.org/drawingml/2006/main">
              <a:ext uri="{FF2B5EF4-FFF2-40B4-BE49-F238E27FC236}">
                <a16:creationId xmlns:a16="http://schemas.microsoft.com/office/drawing/2014/main" id="{3F820048-939A-469B-8163-9620EAACE1EF}"/>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The authoring workflow</a:t>
            </a:r>
          </a:p>
        </p:txBody>
      </p:sp>
      <p:sp>
        <p:nvSpPr>
          <p:cNvPr id="2" name="text-3-1">
            <a:extLst xmlns:a="http://schemas.openxmlformats.org/drawingml/2006/main">
              <a:ext uri="{FF2B5EF4-FFF2-40B4-BE49-F238E27FC236}">
                <a16:creationId xmlns:a16="http://schemas.microsoft.com/office/drawing/2014/main" id="{E984B9FF-8309-4BC4-B19E-BF90148E03ED}"/>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5B80168F-9CC8-486E-B604-5719386BB0F7}"/>
              </a:ext>
            </a:extLst>
          </p:cNvPr>
          <p:cNvGraphicFramePr/>
          <p:nvPr/>
        </p:nvGraphicFramePr>
        <p:xfrm>
          <a:off xmlns:a="http://schemas.openxmlformats.org/drawingml/2006/main" x="628650" y="1619250"/>
          <a:ext xmlns:a="http://schemas.openxmlformats.org/drawingml/2006/main" cx="10858500" cy="4000500"/>
        </p:xfrm>
        <a:graphic xmlns:a="http://schemas.openxmlformats.org/drawingml/2006/main">
          <a:graphicData uri="http://schemas.openxmlformats.org/drawingml/2006/table">
            <a:tbl>
              <a:tblPr/>
              <a:tblGrid>
                <a:gridCol w="2381250"/>
                <a:gridCol w="8477250"/>
              </a:tblGrid>
              <a:tr h="666750">
                <a:tc>
                  <a:txBody>
                    <a:bodyPr/>
                    <a:lstStyle/>
                    <a:p>
                      <a:r>
                        <a:rPr sz="1875" b="1">
                          <a:solidFill>
                            <a:srgbClr val="FAF9F6"/>
                          </a:solidFill>
                          <a:latin typeface="Arial"/>
                          <a:ea typeface="Arial"/>
                          <a:cs typeface="Arial"/>
                        </a:rPr>
                        <a:t>Step</a:t>
                      </a:r>
                    </a:p>
                  </a:txBody>
                  <a:tcPr marL="91440" marR="91440" marT="45720" marB="45720">
                    <a:solidFill>
                      <a:srgbClr val="263D32"/>
                    </a:solidFill>
                  </a:tcPr>
                </a:tc>
                <a:tc>
                  <a:txBody>
                    <a:bodyPr/>
                    <a:lstStyle/>
                    <a:p>
                      <a:r>
                        <a:rPr sz="1875" b="1">
                          <a:solidFill>
                            <a:srgbClr val="FAF9F6"/>
                          </a:solidFill>
                          <a:latin typeface="Arial"/>
                          <a:ea typeface="Arial"/>
                          <a:cs typeface="Arial"/>
                        </a:rPr>
                        <a:t>User action</a:t>
                      </a:r>
                    </a:p>
                  </a:txBody>
                  <a:tcPr marL="91440" marR="91440" marT="45720" marB="45720">
                    <a:solidFill>
                      <a:srgbClr val="263D32"/>
                    </a:solidFill>
                  </a:tcPr>
                </a:tc>
              </a:tr>
              <a:tr h="666750">
                <a:tc>
                  <a:txBody>
                    <a:bodyPr/>
                    <a:lstStyle/>
                    <a:p>
                      <a:r>
                        <a:rPr sz="1875" b="0">
                          <a:solidFill>
                            <a:srgbClr val="263D32"/>
                          </a:solidFill>
                          <a:latin typeface="Arial"/>
                          <a:ea typeface="Arial"/>
                          <a:cs typeface="Arial"/>
                        </a:rPr>
                        <a:t>01  Start</a:t>
                      </a:r>
                    </a:p>
                  </a:txBody>
                  <a:tcPr marL="91440" marR="91440" marT="45720" marB="45720">
                    <a:solidFill>
                      <a:srgbClr val="FFFFFF"/>
                    </a:solidFill>
                  </a:tcPr>
                </a:tc>
                <a:tc>
                  <a:txBody>
                    <a:bodyPr/>
                    <a:lstStyle/>
                    <a:p>
                      <a:r>
                        <a:rPr sz="1875" b="0">
                          <a:solidFill>
                            <a:srgbClr val="263D32"/>
                          </a:solidFill>
                          <a:latin typeface="Arial"/>
                          <a:ea typeface="Arial"/>
                          <a:cs typeface="Arial"/>
                        </a:rPr>
                        <a:t>Choose Studio North, Portfolio, Product, or a blank page</a:t>
                      </a:r>
                    </a:p>
                  </a:txBody>
                  <a:tcPr marL="91440" marR="91440" marT="45720" marB="45720">
                    <a:solidFill>
                      <a:srgbClr val="FFFFFF"/>
                    </a:solidFill>
                  </a:tcPr>
                </a:tc>
              </a:tr>
              <a:tr h="666750">
                <a:tc>
                  <a:txBody>
                    <a:bodyPr/>
                    <a:lstStyle/>
                    <a:p>
                      <a:r>
                        <a:rPr sz="1875" b="0">
                          <a:solidFill>
                            <a:srgbClr val="263D32"/>
                          </a:solidFill>
                          <a:latin typeface="Arial"/>
                          <a:ea typeface="Arial"/>
                          <a:cs typeface="Arial"/>
                        </a:rPr>
                        <a:t>02  Compose</a:t>
                      </a:r>
                    </a:p>
                  </a:txBody>
                  <a:tcPr marL="91440" marR="91440" marT="45720" marB="45720">
                    <a:solidFill>
                      <a:srgbClr val="F1F3EA"/>
                    </a:solidFill>
                  </a:tcPr>
                </a:tc>
                <a:tc>
                  <a:txBody>
                    <a:bodyPr/>
                    <a:lstStyle/>
                    <a:p>
                      <a:r>
                        <a:rPr sz="1875" b="0">
                          <a:solidFill>
                            <a:srgbClr val="263D32"/>
                          </a:solidFill>
                          <a:latin typeface="Arial"/>
                          <a:ea typeface="Arial"/>
                          <a:cs typeface="Arial"/>
                        </a:rPr>
                        <a:t>Add, reorder, duplicate, and remove sections</a:t>
                      </a:r>
                    </a:p>
                  </a:txBody>
                  <a:tcPr marL="91440" marR="91440" marT="45720" marB="45720">
                    <a:solidFill>
                      <a:srgbClr val="F1F3EA"/>
                    </a:solidFill>
                  </a:tcPr>
                </a:tc>
              </a:tr>
              <a:tr h="666750">
                <a:tc>
                  <a:txBody>
                    <a:bodyPr/>
                    <a:lstStyle/>
                    <a:p>
                      <a:r>
                        <a:rPr sz="1875" b="0">
                          <a:solidFill>
                            <a:srgbClr val="263D32"/>
                          </a:solidFill>
                          <a:latin typeface="Arial"/>
                          <a:ea typeface="Arial"/>
                          <a:cs typeface="Arial"/>
                        </a:rPr>
                        <a:t>03  Refine</a:t>
                      </a:r>
                    </a:p>
                  </a:txBody>
                  <a:tcPr marL="91440" marR="91440" marT="45720" marB="45720">
                    <a:solidFill>
                      <a:srgbClr val="FFFFFF"/>
                    </a:solidFill>
                  </a:tcPr>
                </a:tc>
                <a:tc>
                  <a:txBody>
                    <a:bodyPr/>
                    <a:lstStyle/>
                    <a:p>
                      <a:r>
                        <a:rPr sz="1875" b="0">
                          <a:solidFill>
                            <a:srgbClr val="263D32"/>
                          </a:solidFill>
                          <a:latin typeface="Arial"/>
                          <a:ea typeface="Arial"/>
                          <a:cs typeface="Arial"/>
                        </a:rPr>
                        <a:t>Edit text, colors, spacing, alignment, and typography</a:t>
                      </a:r>
                    </a:p>
                  </a:txBody>
                  <a:tcPr marL="91440" marR="91440" marT="45720" marB="45720">
                    <a:solidFill>
                      <a:srgbClr val="FFFFFF"/>
                    </a:solidFill>
                  </a:tcPr>
                </a:tc>
              </a:tr>
              <a:tr h="666750">
                <a:tc>
                  <a:txBody>
                    <a:bodyPr/>
                    <a:lstStyle/>
                    <a:p>
                      <a:r>
                        <a:rPr sz="1875" b="0">
                          <a:solidFill>
                            <a:srgbClr val="263D32"/>
                          </a:solidFill>
                          <a:latin typeface="Arial"/>
                          <a:ea typeface="Arial"/>
                          <a:cs typeface="Arial"/>
                        </a:rPr>
                        <a:t>04  Inspect</a:t>
                      </a:r>
                    </a:p>
                  </a:txBody>
                  <a:tcPr marL="91440" marR="91440" marT="45720" marB="45720">
                    <a:solidFill>
                      <a:srgbClr val="F1F3EA"/>
                    </a:solidFill>
                  </a:tcPr>
                </a:tc>
                <a:tc>
                  <a:txBody>
                    <a:bodyPr/>
                    <a:lstStyle/>
                    <a:p>
                      <a:r>
                        <a:rPr sz="1875" b="0">
                          <a:solidFill>
                            <a:srgbClr val="263D32"/>
                          </a:solidFill>
                          <a:latin typeface="Arial"/>
                          <a:ea typeface="Arial"/>
                          <a:cs typeface="Arial"/>
                        </a:rPr>
                        <a:t>Switch viewport width or open the generated code</a:t>
                      </a:r>
                    </a:p>
                  </a:txBody>
                  <a:tcPr marL="91440" marR="91440" marT="45720" marB="45720">
                    <a:solidFill>
                      <a:srgbClr val="F1F3EA"/>
                    </a:solidFill>
                  </a:tcPr>
                </a:tc>
              </a:tr>
              <a:tr h="666750">
                <a:tc>
                  <a:txBody>
                    <a:bodyPr/>
                    <a:lstStyle/>
                    <a:p>
                      <a:r>
                        <a:rPr sz="1875" b="0">
                          <a:solidFill>
                            <a:srgbClr val="263D32"/>
                          </a:solidFill>
                          <a:latin typeface="Arial"/>
                          <a:ea typeface="Arial"/>
                          <a:cs typeface="Arial"/>
                        </a:rPr>
                        <a:t>05  Deliver</a:t>
                      </a:r>
                    </a:p>
                  </a:txBody>
                  <a:tcPr marL="91440" marR="91440" marT="45720" marB="45720">
                    <a:solidFill>
                      <a:srgbClr val="FFFFFF"/>
                    </a:solidFill>
                  </a:tcPr>
                </a:tc>
                <a:tc>
                  <a:txBody>
                    <a:bodyPr/>
                    <a:lstStyle/>
                    <a:p>
                      <a:r>
                        <a:rPr sz="1875" b="0">
                          <a:solidFill>
                            <a:srgbClr val="263D32"/>
                          </a:solidFill>
                          <a:latin typeface="Arial"/>
                          <a:ea typeface="Arial"/>
                          <a:cs typeface="Arial"/>
                        </a:rPr>
                        <a:t>Save a project or export the standalone website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23099763"/>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text-4-0">
            <a:extLst xmlns:a="http://schemas.openxmlformats.org/drawingml/2006/main">
              <a:ext uri="{FF2B5EF4-FFF2-40B4-BE49-F238E27FC236}">
                <a16:creationId xmlns:a16="http://schemas.microsoft.com/office/drawing/2014/main" id="{1972734A-9EC5-4425-B6B5-83101F0FE45A}"/>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Initial product scope</a:t>
            </a:r>
          </a:p>
        </p:txBody>
      </p:sp>
      <p:sp>
        <p:nvSpPr>
          <p:cNvPr id="2" name="text-4-1">
            <a:extLst xmlns:a="http://schemas.openxmlformats.org/drawingml/2006/main">
              <a:ext uri="{FF2B5EF4-FFF2-40B4-BE49-F238E27FC236}">
                <a16:creationId xmlns:a16="http://schemas.microsoft.com/office/drawing/2014/main" id="{F2CDB6FF-3FEE-4991-9BD4-80A11DA73C0C}"/>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73240279-31C9-4B53-B40C-7FEAEBB48F1C}"/>
              </a:ext>
            </a:extLst>
          </p:cNvPr>
          <p:cNvGraphicFramePr/>
          <p:nvPr/>
        </p:nvGraphicFramePr>
        <p:xfrm>
          <a:off xmlns:a="http://schemas.openxmlformats.org/drawingml/2006/main" x="628650" y="1666875"/>
          <a:ext xmlns:a="http://schemas.openxmlformats.org/drawingml/2006/main" cx="10858500" cy="3714750"/>
        </p:xfrm>
        <a:graphic xmlns:a="http://schemas.openxmlformats.org/drawingml/2006/main">
          <a:graphicData uri="http://schemas.openxmlformats.org/drawingml/2006/table">
            <a:tbl>
              <a:tblPr/>
              <a:tblGrid>
                <a:gridCol w="3619500"/>
                <a:gridCol w="7239000"/>
              </a:tblGrid>
              <a:tr h="619125">
                <a:tc>
                  <a:txBody>
                    <a:bodyPr/>
                    <a:lstStyle/>
                    <a:p>
                      <a:r>
                        <a:rPr sz="1875" b="1">
                          <a:solidFill>
                            <a:srgbClr val="FAF9F6"/>
                          </a:solidFill>
                          <a:latin typeface="Arial"/>
                          <a:ea typeface="Arial"/>
                          <a:cs typeface="Arial"/>
                        </a:rPr>
                        <a:t>Capability</a:t>
                      </a:r>
                    </a:p>
                  </a:txBody>
                  <a:tcPr marL="91440" marR="91440" marT="45720" marB="45720">
                    <a:solidFill>
                      <a:srgbClr val="263D32"/>
                    </a:solidFill>
                  </a:tcPr>
                </a:tc>
                <a:tc>
                  <a:txBody>
                    <a:bodyPr/>
                    <a:lstStyle/>
                    <a:p>
                      <a:r>
                        <a:rPr sz="1875" b="1">
                          <a:solidFill>
                            <a:srgbClr val="FAF9F6"/>
                          </a:solidFill>
                          <a:latin typeface="Arial"/>
                          <a:ea typeface="Arial"/>
                          <a:cs typeface="Arial"/>
                        </a:rPr>
                        <a:t>Current implementation</a:t>
                      </a:r>
                    </a:p>
                  </a:txBody>
                  <a:tcPr marL="91440" marR="91440" marT="45720" marB="45720">
                    <a:solidFill>
                      <a:srgbClr val="263D32"/>
                    </a:solidFill>
                  </a:tcPr>
                </a:tc>
              </a:tr>
              <a:tr h="619125">
                <a:tc>
                  <a:txBody>
                    <a:bodyPr/>
                    <a:lstStyle/>
                    <a:p>
                      <a:r>
                        <a:rPr sz="1875" b="0">
                          <a:solidFill>
                            <a:srgbClr val="263D32"/>
                          </a:solidFill>
                          <a:latin typeface="Arial"/>
                          <a:ea typeface="Arial"/>
                          <a:cs typeface="Arial"/>
                        </a:rPr>
                        <a:t>Composition</a:t>
                      </a:r>
                    </a:p>
                  </a:txBody>
                  <a:tcPr marL="91440" marR="91440" marT="45720" marB="45720">
                    <a:solidFill>
                      <a:srgbClr val="FFFFFF"/>
                    </a:solidFill>
                  </a:tcPr>
                </a:tc>
                <a:tc>
                  <a:txBody>
                    <a:bodyPr/>
                    <a:lstStyle/>
                    <a:p>
                      <a:r>
                        <a:rPr sz="1875" b="0">
                          <a:solidFill>
                            <a:srgbClr val="263D32"/>
                          </a:solidFill>
                          <a:latin typeface="Arial"/>
                          <a:ea typeface="Arial"/>
                          <a:cs typeface="Arial"/>
                        </a:rPr>
                        <a:t>8 section types and 3 starter templates</a:t>
                      </a:r>
                    </a:p>
                  </a:txBody>
                  <a:tcPr marL="91440" marR="91440" marT="45720" marB="45720">
                    <a:solidFill>
                      <a:srgbClr val="FFFFFF"/>
                    </a:solidFill>
                  </a:tcPr>
                </a:tc>
              </a:tr>
              <a:tr h="619125">
                <a:tc>
                  <a:txBody>
                    <a:bodyPr/>
                    <a:lstStyle/>
                    <a:p>
                      <a:r>
                        <a:rPr sz="1875" b="0">
                          <a:solidFill>
                            <a:srgbClr val="263D32"/>
                          </a:solidFill>
                          <a:latin typeface="Arial"/>
                          <a:ea typeface="Arial"/>
                          <a:cs typeface="Arial"/>
                        </a:rPr>
                        <a:t>History</a:t>
                      </a:r>
                    </a:p>
                  </a:txBody>
                  <a:tcPr marL="91440" marR="91440" marT="45720" marB="45720">
                    <a:solidFill>
                      <a:srgbClr val="F1F3EA"/>
                    </a:solidFill>
                  </a:tcPr>
                </a:tc>
                <a:tc>
                  <a:txBody>
                    <a:bodyPr/>
                    <a:lstStyle/>
                    <a:p>
                      <a:r>
                        <a:rPr sz="1875" b="0">
                          <a:solidFill>
                            <a:srgbClr val="263D32"/>
                          </a:solidFill>
                          <a:latin typeface="Arial"/>
                          <a:ea typeface="Arial"/>
                          <a:cs typeface="Arial"/>
                        </a:rPr>
                        <a:t>Undo / redo with up to 60 page snapshots</a:t>
                      </a:r>
                    </a:p>
                  </a:txBody>
                  <a:tcPr marL="91440" marR="91440" marT="45720" marB="45720">
                    <a:solidFill>
                      <a:srgbClr val="F1F3EA"/>
                    </a:solidFill>
                  </a:tcPr>
                </a:tc>
              </a:tr>
              <a:tr h="619125">
                <a:tc>
                  <a:txBody>
                    <a:bodyPr/>
                    <a:lstStyle/>
                    <a:p>
                      <a:r>
                        <a:rPr sz="1875" b="0">
                          <a:solidFill>
                            <a:srgbClr val="263D32"/>
                          </a:solidFill>
                          <a:latin typeface="Arial"/>
                          <a:ea typeface="Arial"/>
                          <a:cs typeface="Arial"/>
                        </a:rPr>
                        <a:t>Customization</a:t>
                      </a:r>
                    </a:p>
                  </a:txBody>
                  <a:tcPr marL="91440" marR="91440" marT="45720" marB="45720">
                    <a:solidFill>
                      <a:srgbClr val="FFFFFF"/>
                    </a:solidFill>
                  </a:tcPr>
                </a:tc>
                <a:tc>
                  <a:txBody>
                    <a:bodyPr/>
                    <a:lstStyle/>
                    <a:p>
                      <a:r>
                        <a:rPr sz="1875" b="0">
                          <a:solidFill>
                            <a:srgbClr val="263D32"/>
                          </a:solidFill>
                          <a:latin typeface="Arial"/>
                          <a:ea typeface="Arial"/>
                          <a:cs typeface="Arial"/>
                        </a:rPr>
                        <a:t>Section styles and shared page theme</a:t>
                      </a:r>
                    </a:p>
                  </a:txBody>
                  <a:tcPr marL="91440" marR="91440" marT="45720" marB="45720">
                    <a:solidFill>
                      <a:srgbClr val="FFFFFF"/>
                    </a:solidFill>
                  </a:tcPr>
                </a:tc>
              </a:tr>
              <a:tr h="619125">
                <a:tc>
                  <a:txBody>
                    <a:bodyPr/>
                    <a:lstStyle/>
                    <a:p>
                      <a:r>
                        <a:rPr sz="1875" b="0">
                          <a:solidFill>
                            <a:srgbClr val="263D32"/>
                          </a:solidFill>
                          <a:latin typeface="Arial"/>
                          <a:ea typeface="Arial"/>
                          <a:cs typeface="Arial"/>
                        </a:rPr>
                        <a:t>Persistence</a:t>
                      </a:r>
                    </a:p>
                  </a:txBody>
                  <a:tcPr marL="91440" marR="91440" marT="45720" marB="45720">
                    <a:solidFill>
                      <a:srgbClr val="F1F3EA"/>
                    </a:solidFill>
                  </a:tcPr>
                </a:tc>
                <a:tc>
                  <a:txBody>
                    <a:bodyPr/>
                    <a:lstStyle/>
                    <a:p>
                      <a:r>
                        <a:rPr sz="1875" b="0">
                          <a:solidFill>
                            <a:srgbClr val="263D32"/>
                          </a:solidFill>
                          <a:latin typeface="Arial"/>
                          <a:ea typeface="Arial"/>
                          <a:cs typeface="Arial"/>
                        </a:rPr>
                        <a:t>One browser draft plus private account projects</a:t>
                      </a:r>
                    </a:p>
                  </a:txBody>
                  <a:tcPr marL="91440" marR="91440" marT="45720" marB="45720">
                    <a:solidFill>
                      <a:srgbClr val="F1F3EA"/>
                    </a:solidFill>
                  </a:tcPr>
                </a:tc>
              </a:tr>
              <a:tr h="619125">
                <a:tc>
                  <a:txBody>
                    <a:bodyPr/>
                    <a:lstStyle/>
                    <a:p>
                      <a:r>
                        <a:rPr sz="1875" b="0">
                          <a:solidFill>
                            <a:srgbClr val="263D32"/>
                          </a:solidFill>
                          <a:latin typeface="Arial"/>
                          <a:ea typeface="Arial"/>
                          <a:cs typeface="Arial"/>
                        </a:rPr>
                        <a:t>Export</a:t>
                      </a:r>
                    </a:p>
                  </a:txBody>
                  <a:tcPr marL="91440" marR="91440" marT="45720" marB="45720">
                    <a:solidFill>
                      <a:srgbClr val="FFFFFF"/>
                    </a:solidFill>
                  </a:tcPr>
                </a:tc>
                <a:tc>
                  <a:txBody>
                    <a:bodyPr/>
                    <a:lstStyle/>
                    <a:p>
                      <a:r>
                        <a:rPr sz="1875" b="0">
                          <a:solidFill>
                            <a:srgbClr val="263D32"/>
                          </a:solidFill>
                          <a:latin typeface="Arial"/>
                          <a:ea typeface="Arial"/>
                          <a:cs typeface="Arial"/>
                        </a:rPr>
                        <a:t>index.html, styles.css, and instructions in a ZIP</a:t>
                      </a:r>
                    </a:p>
                  </a:txBody>
                  <a:tcPr marL="91440" marR="91440" marT="45720" marB="45720">
                    <a:solidFill>
                      <a:srgbClr val="FFFFFF"/>
                    </a:solidFill>
                  </a:tcPr>
                </a:tc>
              </a:tr>
            </a:tbl>
          </a:graphicData>
        </a:graphic>
      </p:graphicFrame>
      <p:sp>
        <p:nvSpPr>
          <p:cNvPr id="4" name="text-4-2">
            <a:extLst xmlns:a="http://schemas.openxmlformats.org/drawingml/2006/main">
              <a:ext uri="{FF2B5EF4-FFF2-40B4-BE49-F238E27FC236}">
                <a16:creationId xmlns:a16="http://schemas.microsoft.com/office/drawing/2014/main" id="{7A923428-E178-43D0-83A3-2AA6203FD57B}"/>
              </a:ext>
            </a:extLst>
          </p:cNvPr>
          <p:cNvSpPr>
            <a:spLocks xmlns:a="http://schemas.openxmlformats.org/drawingml/2006/main" noGrp="1"/>
          </p:cNvSpPr>
          <p:nvPr/>
        </p:nvSpPr>
        <p:spPr>
          <a:xfrm xmlns:a="http://schemas.openxmlformats.org/drawingml/2006/main">
            <a:off x="628650" y="57150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A603B"/>
                </a:solidFill>
                <a:latin typeface="Arial"/>
                <a:ea typeface="Arial"/>
                <a:cs typeface="Arial"/>
              </a:defRPr>
            </a:defPPr>
          </a:lstStyle>
          <a:p xmlns:a="http://schemas.openxmlformats.org/drawingml/2006/main">
            <a:pPr>
              <a:defRPr sz="1800" b="1">
                <a:solidFill>
                  <a:srgbClr val="CA603B"/>
                </a:solidFill>
                <a:latin typeface="Arial"/>
                <a:ea typeface="Arial"/>
                <a:cs typeface="Arial"/>
              </a:defRPr>
            </a:pPr>
            <a:r>
              <a:rPr sz="1800" b="1">
                <a:solidFill>
                  <a:srgbClr val="CA603B"/>
                </a:solidFill>
                <a:latin typeface="Arial"/>
                <a:ea typeface="Arial"/>
                <a:cs typeface="Arial"/>
              </a:rPr>
              <a:t>Scope: single-page websites built from predefined sections</a:t>
            </a:r>
          </a:p>
        </p:txBody>
      </p:sp>
    </p:spTree>
    <p:extLst>
      <p:ext uri="{BB962C8B-B14F-4D97-AF65-F5344CB8AC3E}">
        <p14:creationId xmlns:p14="http://schemas.microsoft.com/office/powerpoint/2010/main" val="180008808"/>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4" name="text-5-0">
            <a:extLst xmlns:a="http://schemas.openxmlformats.org/drawingml/2006/main">
              <a:ext uri="{FF2B5EF4-FFF2-40B4-BE49-F238E27FC236}">
                <a16:creationId xmlns:a16="http://schemas.microsoft.com/office/drawing/2014/main" id="{CE7D6E11-ED55-428F-B100-A64C19575E69}"/>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System architecture</a:t>
            </a:r>
          </a:p>
        </p:txBody>
      </p:sp>
      <p:sp>
        <p:nvSpPr>
          <p:cNvPr id="2" name="text-5-1">
            <a:extLst xmlns:a="http://schemas.openxmlformats.org/drawingml/2006/main">
              <a:ext uri="{FF2B5EF4-FFF2-40B4-BE49-F238E27FC236}">
                <a16:creationId xmlns:a16="http://schemas.microsoft.com/office/drawing/2014/main" id="{F47CE7B8-3E91-4BC0-8D52-A4CB324258F7}"/>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E3FCC5E0-4668-4F9F-8A0B-041A925F6AA4}"/>
              </a:ext>
            </a:extLst>
          </p:cNvPr>
          <p:cNvGraphicFramePr/>
          <p:nvPr/>
        </p:nvGraphicFramePr>
        <p:xfrm>
          <a:off xmlns:a="http://schemas.openxmlformats.org/drawingml/2006/main" x="628650" y="1666875"/>
          <a:ext xmlns:a="http://schemas.openxmlformats.org/drawingml/2006/main" cx="10858500" cy="3905250"/>
        </p:xfrm>
        <a:graphic xmlns:a="http://schemas.openxmlformats.org/drawingml/2006/main">
          <a:graphicData uri="http://schemas.openxmlformats.org/drawingml/2006/table">
            <a:tbl>
              <a:tblPr/>
              <a:tblGrid>
                <a:gridCol w="3619500"/>
                <a:gridCol w="7239000"/>
              </a:tblGrid>
              <a:tr h="650875">
                <a:tc>
                  <a:txBody>
                    <a:bodyPr/>
                    <a:lstStyle/>
                    <a:p>
                      <a:r>
                        <a:rPr sz="1875" b="1">
                          <a:solidFill>
                            <a:srgbClr val="FAF9F6"/>
                          </a:solidFill>
                          <a:latin typeface="Arial"/>
                          <a:ea typeface="Arial"/>
                          <a:cs typeface="Arial"/>
                        </a:rPr>
                        <a:t>Layer</a:t>
                      </a:r>
                    </a:p>
                  </a:txBody>
                  <a:tcPr marL="91440" marR="91440" marT="45720" marB="45720">
                    <a:solidFill>
                      <a:srgbClr val="263D32"/>
                    </a:solidFill>
                  </a:tcPr>
                </a:tc>
                <a:tc>
                  <a:txBody>
                    <a:bodyPr/>
                    <a:lstStyle/>
                    <a:p>
                      <a:r>
                        <a:rPr sz="1875" b="1">
                          <a:solidFill>
                            <a:srgbClr val="FAF9F6"/>
                          </a:solidFill>
                          <a:latin typeface="Arial"/>
                          <a:ea typeface="Arial"/>
                          <a:cs typeface="Arial"/>
                        </a:rPr>
                        <a:t>Role</a:t>
                      </a:r>
                    </a:p>
                  </a:txBody>
                  <a:tcPr marL="91440" marR="91440" marT="45720" marB="45720">
                    <a:solidFill>
                      <a:srgbClr val="263D32"/>
                    </a:solidFill>
                  </a:tcPr>
                </a:tc>
              </a:tr>
              <a:tr h="650875">
                <a:tc>
                  <a:txBody>
                    <a:bodyPr/>
                    <a:lstStyle/>
                    <a:p>
                      <a:r>
                        <a:rPr sz="1875" b="0">
                          <a:solidFill>
                            <a:srgbClr val="263D32"/>
                          </a:solidFill>
                          <a:latin typeface="Arial"/>
                          <a:ea typeface="Arial"/>
                          <a:cs typeface="Arial"/>
                        </a:rPr>
                        <a:t>React editor</a:t>
                      </a:r>
                    </a:p>
                  </a:txBody>
                  <a:tcPr marL="91440" marR="91440" marT="45720" marB="45720">
                    <a:solidFill>
                      <a:srgbClr val="FFFFFF"/>
                    </a:solidFill>
                  </a:tcPr>
                </a:tc>
                <a:tc>
                  <a:txBody>
                    <a:bodyPr/>
                    <a:lstStyle/>
                    <a:p>
                      <a:r>
                        <a:rPr sz="1875" b="0">
                          <a:solidFill>
                            <a:srgbClr val="263D32"/>
                          </a:solidFill>
                          <a:latin typeface="Arial"/>
                          <a:ea typeface="Arial"/>
                          <a:cs typeface="Arial"/>
                        </a:rPr>
                        <a:t>Interaction state, inspector, history, project dialogs</a:t>
                      </a:r>
                    </a:p>
                  </a:txBody>
                  <a:tcPr marL="91440" marR="91440" marT="45720" marB="45720">
                    <a:solidFill>
                      <a:srgbClr val="FFFFFF"/>
                    </a:solidFill>
                  </a:tcPr>
                </a:tc>
              </a:tr>
              <a:tr h="650875">
                <a:tc>
                  <a:txBody>
                    <a:bodyPr/>
                    <a:lstStyle/>
                    <a:p>
                      <a:r>
                        <a:rPr sz="1875" b="0">
                          <a:solidFill>
                            <a:srgbClr val="263D32"/>
                          </a:solidFill>
                          <a:latin typeface="Arial"/>
                          <a:ea typeface="Arial"/>
                          <a:cs typeface="Arial"/>
                        </a:rPr>
                        <a:t>Shared page module</a:t>
                      </a:r>
                    </a:p>
                  </a:txBody>
                  <a:tcPr marL="91440" marR="91440" marT="45720" marB="45720">
                    <a:solidFill>
                      <a:srgbClr val="F1F3EA"/>
                    </a:solidFill>
                  </a:tcPr>
                </a:tc>
                <a:tc>
                  <a:txBody>
                    <a:bodyPr/>
                    <a:lstStyle/>
                    <a:p>
                      <a:r>
                        <a:rPr sz="1875" b="0">
                          <a:solidFill>
                            <a:srgbClr val="263D32"/>
                          </a:solidFill>
                          <a:latin typeface="Arial"/>
                          <a:ea typeface="Arial"/>
                          <a:cs typeface="Arial"/>
                        </a:rPr>
                        <a:t>Schema checks and HTML/CSS generation</a:t>
                      </a:r>
                    </a:p>
                  </a:txBody>
                  <a:tcPr marL="91440" marR="91440" marT="45720" marB="45720">
                    <a:solidFill>
                      <a:srgbClr val="F1F3EA"/>
                    </a:solidFill>
                  </a:tcPr>
                </a:tc>
              </a:tr>
              <a:tr h="650875">
                <a:tc>
                  <a:txBody>
                    <a:bodyPr/>
                    <a:lstStyle/>
                    <a:p>
                      <a:r>
                        <a:rPr sz="1875" b="0">
                          <a:solidFill>
                            <a:srgbClr val="263D32"/>
                          </a:solidFill>
                          <a:latin typeface="Arial"/>
                          <a:ea typeface="Arial"/>
                          <a:cs typeface="Arial"/>
                        </a:rPr>
                        <a:t>Sandboxed iframe</a:t>
                      </a:r>
                    </a:p>
                  </a:txBody>
                  <a:tcPr marL="91440" marR="91440" marT="45720" marB="45720">
                    <a:solidFill>
                      <a:srgbClr val="FFFFFF"/>
                    </a:solidFill>
                  </a:tcPr>
                </a:tc>
                <a:tc>
                  <a:txBody>
                    <a:bodyPr/>
                    <a:lstStyle/>
                    <a:p>
                      <a:r>
                        <a:rPr sz="1875" b="0">
                          <a:solidFill>
                            <a:srgbClr val="263D32"/>
                          </a:solidFill>
                          <a:latin typeface="Arial"/>
                          <a:ea typeface="Arial"/>
                          <a:cs typeface="Arial"/>
                        </a:rPr>
                        <a:t>Preview rendering and section-selection messages</a:t>
                      </a:r>
                    </a:p>
                  </a:txBody>
                  <a:tcPr marL="91440" marR="91440" marT="45720" marB="45720">
                    <a:solidFill>
                      <a:srgbClr val="FFFFFF"/>
                    </a:solidFill>
                  </a:tcPr>
                </a:tc>
              </a:tr>
              <a:tr h="650875">
                <a:tc>
                  <a:txBody>
                    <a:bodyPr/>
                    <a:lstStyle/>
                    <a:p>
                      <a:r>
                        <a:rPr sz="1875" b="0">
                          <a:solidFill>
                            <a:srgbClr val="263D32"/>
                          </a:solidFill>
                          <a:latin typeface="Arial"/>
                          <a:ea typeface="Arial"/>
                          <a:cs typeface="Arial"/>
                        </a:rPr>
                        <a:t>Express REST API</a:t>
                      </a:r>
                    </a:p>
                  </a:txBody>
                  <a:tcPr marL="91440" marR="91440" marT="45720" marB="45720">
                    <a:solidFill>
                      <a:srgbClr val="F1F3EA"/>
                    </a:solidFill>
                  </a:tcPr>
                </a:tc>
                <a:tc>
                  <a:txBody>
                    <a:bodyPr/>
                    <a:lstStyle/>
                    <a:p>
                      <a:r>
                        <a:rPr sz="1875" b="0">
                          <a:solidFill>
                            <a:srgbClr val="263D32"/>
                          </a:solidFill>
                          <a:latin typeface="Arial"/>
                          <a:ea typeface="Arial"/>
                          <a:cs typeface="Arial"/>
                        </a:rPr>
                        <a:t>Authentication, validation, ownership enforcement</a:t>
                      </a:r>
                    </a:p>
                  </a:txBody>
                  <a:tcPr marL="91440" marR="91440" marT="45720" marB="45720">
                    <a:solidFill>
                      <a:srgbClr val="F1F3EA"/>
                    </a:solidFill>
                  </a:tcPr>
                </a:tc>
              </a:tr>
              <a:tr h="650875">
                <a:tc>
                  <a:txBody>
                    <a:bodyPr/>
                    <a:lstStyle/>
                    <a:p>
                      <a:r>
                        <a:rPr sz="1875" b="0">
                          <a:solidFill>
                            <a:srgbClr val="263D32"/>
                          </a:solidFill>
                          <a:latin typeface="Arial"/>
                          <a:ea typeface="Arial"/>
                          <a:cs typeface="Arial"/>
                        </a:rPr>
                        <a:t>Storage adapter</a:t>
                      </a:r>
                    </a:p>
                  </a:txBody>
                  <a:tcPr marL="91440" marR="91440" marT="45720" marB="45720">
                    <a:solidFill>
                      <a:srgbClr val="FFFFFF"/>
                    </a:solidFill>
                  </a:tcPr>
                </a:tc>
                <a:tc>
                  <a:txBody>
                    <a:bodyPr/>
                    <a:lstStyle/>
                    <a:p>
                      <a:r>
                        <a:rPr sz="1875" b="0">
                          <a:solidFill>
                            <a:srgbClr val="263D32"/>
                          </a:solidFill>
                          <a:latin typeface="Arial"/>
                          <a:ea typeface="Arial"/>
                          <a:cs typeface="Arial"/>
                        </a:rPr>
                        <a:t>Local JSON default or optional MongoDB</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4617044"/>
      </p:ext>
    </p:extLst>
  </p:cSld>
</p:sld>
</file>

<file path=ppt/slides/slide6.xml><?xml version="1.0" encoding="utf-8"?>
<p:sld xmlns:p="http://schemas.openxmlformats.org/presentationml/2006/main">
  <p:cSld>
    <p:bg>
      <p:bgPr>
        <a:solidFill xmlns:a="http://schemas.openxmlformats.org/drawingml/2006/main">
          <a:srgbClr val="263D32"/>
        </a:solidFill>
      </p:bgPr>
    </p:bg>
    <p:spTree>
      <p:nvGrpSpPr>
        <p:cNvPr id="1" name=""/>
        <p:cNvGrpSpPr/>
        <p:nvPr/>
      </p:nvGrpSpPr>
      <p:grpSpPr>
        <a:xfrm xmlns:a="http://schemas.openxmlformats.org/drawingml/2006/main"/>
      </p:grpSpPr>
      <p:sp>
        <p:nvSpPr>
          <p:cNvPr id="9" name="text-6-0">
            <a:extLst xmlns:a="http://schemas.openxmlformats.org/drawingml/2006/main">
              <a:ext uri="{FF2B5EF4-FFF2-40B4-BE49-F238E27FC236}">
                <a16:creationId xmlns:a16="http://schemas.microsoft.com/office/drawing/2014/main" id="{A05293D9-7D61-459A-A86A-1E292CC4CAB5}"/>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AF9F6"/>
                </a:solidFill>
                <a:latin typeface="Arial"/>
                <a:ea typeface="Arial"/>
                <a:cs typeface="Arial"/>
              </a:defRPr>
            </a:defPPr>
          </a:lstStyle>
          <a:p xmlns:a="http://schemas.openxmlformats.org/drawingml/2006/main">
            <a:pPr>
              <a:defRPr sz="3300" b="1">
                <a:solidFill>
                  <a:srgbClr val="FAF9F6"/>
                </a:solidFill>
                <a:latin typeface="Arial"/>
                <a:ea typeface="Arial"/>
                <a:cs typeface="Arial"/>
              </a:defRPr>
            </a:pPr>
            <a:r>
              <a:rPr sz="3300" b="1">
                <a:solidFill>
                  <a:srgbClr val="FAF9F6"/>
                </a:solidFill>
                <a:latin typeface="Arial"/>
                <a:ea typeface="Arial"/>
                <a:cs typeface="Arial"/>
              </a:rPr>
              <a:t>One page model for preview and export</a:t>
            </a:r>
          </a:p>
        </p:txBody>
      </p:sp>
      <p:sp>
        <p:nvSpPr>
          <p:cNvPr id="2" name="text-6-1">
            <a:extLst xmlns:a="http://schemas.openxmlformats.org/drawingml/2006/main">
              <a:ext uri="{FF2B5EF4-FFF2-40B4-BE49-F238E27FC236}">
                <a16:creationId xmlns:a16="http://schemas.microsoft.com/office/drawing/2014/main" id="{BCBB5952-CE88-4FA8-B9B6-F1E046602008}"/>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BBDA8"/>
                </a:solidFill>
                <a:latin typeface="Arial"/>
                <a:ea typeface="Arial"/>
                <a:cs typeface="Arial"/>
              </a:defRPr>
            </a:defPPr>
          </a:lstStyle>
          <a:p xmlns:a="http://schemas.openxmlformats.org/drawingml/2006/main">
            <a:pPr>
              <a:defRPr sz="1125" b="0">
                <a:solidFill>
                  <a:srgbClr val="ABBDA8"/>
                </a:solidFill>
                <a:latin typeface="Arial"/>
                <a:ea typeface="Arial"/>
                <a:cs typeface="Arial"/>
              </a:defRPr>
            </a:pPr>
            <a:r>
              <a:rPr sz="1125" b="0">
                <a:solidFill>
                  <a:srgbClr val="ABBDA8"/>
                </a:solidFill>
                <a:latin typeface="Arial"/>
                <a:ea typeface="Arial"/>
                <a:cs typeface="Arial"/>
              </a:rPr>
              <a:t>06</a:t>
            </a:r>
          </a:p>
        </p:txBody>
      </p:sp>
      <p:sp>
        <p:nvSpPr>
          <p:cNvPr id="3" name="text-6-2">
            <a:extLst xmlns:a="http://schemas.openxmlformats.org/drawingml/2006/main">
              <a:ext uri="{FF2B5EF4-FFF2-40B4-BE49-F238E27FC236}">
                <a16:creationId xmlns:a16="http://schemas.microsoft.com/office/drawing/2014/main" id="{43F8BFCE-DE5A-423F-8132-2284D80337F4}"/>
              </a:ext>
            </a:extLst>
          </p:cNvPr>
          <p:cNvSpPr>
            <a:spLocks xmlns:a="http://schemas.openxmlformats.org/drawingml/2006/main" noGrp="1"/>
          </p:cNvSpPr>
          <p:nvPr/>
        </p:nvSpPr>
        <p:spPr>
          <a:xfrm xmlns:a="http://schemas.openxmlformats.org/drawingml/2006/main">
            <a:off x="628650" y="1771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D7ED8B"/>
                </a:solidFill>
                <a:latin typeface="Arial"/>
                <a:ea typeface="Arial"/>
                <a:cs typeface="Arial"/>
              </a:defRPr>
            </a:defPPr>
          </a:lstStyle>
          <a:p xmlns:a="http://schemas.openxmlformats.org/drawingml/2006/main">
            <a:pPr>
              <a:defRPr sz="2250" b="1">
                <a:solidFill>
                  <a:srgbClr val="D7ED8B"/>
                </a:solidFill>
                <a:latin typeface="Arial"/>
                <a:ea typeface="Arial"/>
                <a:cs typeface="Arial"/>
              </a:defRPr>
            </a:pPr>
            <a:r>
              <a:rPr sz="2250" b="1">
                <a:solidFill>
                  <a:srgbClr val="D7ED8B"/>
                </a:solidFill>
                <a:latin typeface="Arial"/>
                <a:ea typeface="Arial"/>
                <a:cs typeface="Arial"/>
              </a:rPr>
              <a:t>Page document</a:t>
            </a:r>
          </a:p>
        </p:txBody>
      </p:sp>
      <p:sp>
        <p:nvSpPr>
          <p:cNvPr id="4" name="text-6-3">
            <a:extLst xmlns:a="http://schemas.openxmlformats.org/drawingml/2006/main">
              <a:ext uri="{FF2B5EF4-FFF2-40B4-BE49-F238E27FC236}">
                <a16:creationId xmlns:a16="http://schemas.microsoft.com/office/drawing/2014/main" id="{2B478210-A06C-4FE7-94E0-3BC2BBA9E5AA}"/>
              </a:ext>
            </a:extLst>
          </p:cNvPr>
          <p:cNvSpPr>
            <a:spLocks xmlns:a="http://schemas.openxmlformats.org/drawingml/2006/main" noGrp="1"/>
          </p:cNvSpPr>
          <p:nvPr/>
        </p:nvSpPr>
        <p:spPr>
          <a:xfrm xmlns:a="http://schemas.openxmlformats.org/drawingml/2006/main">
            <a:off x="628650" y="2400300"/>
            <a:ext cx="6286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AF9F6"/>
                </a:solidFill>
                <a:latin typeface="Courier New"/>
                <a:ea typeface="Courier New"/>
                <a:cs typeface="Courier New"/>
              </a:defRPr>
            </a:defPPr>
          </a:lstStyle>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  version: 1,</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  theme: { font, accent, radius },</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  sections: [</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    { id, type, content, style }</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  ]</a:t>
            </a:r>
          </a:p>
          <a:p xmlns:a="http://schemas.openxmlformats.org/drawingml/2006/main">
            <a:pPr>
              <a:defRPr sz="2025" b="0">
                <a:solidFill>
                  <a:srgbClr val="FAF9F6"/>
                </a:solidFill>
                <a:latin typeface="Courier New"/>
                <a:ea typeface="Courier New"/>
                <a:cs typeface="Courier New"/>
              </a:defRPr>
            </a:pPr>
            <a:r>
              <a:rPr sz="2025" b="0">
                <a:solidFill>
                  <a:srgbClr val="FAF9F6"/>
                </a:solidFill>
                <a:latin typeface="Courier New"/>
                <a:ea typeface="Courier New"/>
                <a:cs typeface="Courier New"/>
              </a:rPr>
              <a:t>}</a:t>
            </a:r>
          </a:p>
        </p:txBody>
      </p:sp>
      <p:sp>
        <p:nvSpPr>
          <p:cNvPr id="5" name="text-6-4">
            <a:extLst xmlns:a="http://schemas.openxmlformats.org/drawingml/2006/main">
              <a:ext uri="{FF2B5EF4-FFF2-40B4-BE49-F238E27FC236}">
                <a16:creationId xmlns:a16="http://schemas.microsoft.com/office/drawing/2014/main" id="{C26CF624-AC44-4339-A541-AAD49D7FC2CB}"/>
              </a:ext>
            </a:extLst>
          </p:cNvPr>
          <p:cNvSpPr>
            <a:spLocks xmlns:a="http://schemas.openxmlformats.org/drawingml/2006/main" noGrp="1"/>
          </p:cNvSpPr>
          <p:nvPr/>
        </p:nvSpPr>
        <p:spPr>
          <a:xfrm xmlns:a="http://schemas.openxmlformats.org/drawingml/2006/main">
            <a:off x="7581900" y="2066925"/>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D7ED8B"/>
                </a:solidFill>
                <a:latin typeface="Arial"/>
                <a:ea typeface="Arial"/>
                <a:cs typeface="Arial"/>
              </a:defRPr>
            </a:defPPr>
          </a:lstStyle>
          <a:p xmlns:a="http://schemas.openxmlformats.org/drawingml/2006/main">
            <a:pPr>
              <a:defRPr sz="2250" b="1">
                <a:solidFill>
                  <a:srgbClr val="D7ED8B"/>
                </a:solidFill>
                <a:latin typeface="Arial"/>
                <a:ea typeface="Arial"/>
                <a:cs typeface="Arial"/>
              </a:defRPr>
            </a:pPr>
            <a:r>
              <a:rPr sz="2250" b="1">
                <a:solidFill>
                  <a:srgbClr val="D7ED8B"/>
                </a:solidFill>
                <a:latin typeface="Arial"/>
                <a:ea typeface="Arial"/>
                <a:cs typeface="Arial"/>
              </a:rPr>
              <a:t>Design preview</a:t>
            </a:r>
          </a:p>
        </p:txBody>
      </p:sp>
      <p:sp>
        <p:nvSpPr>
          <p:cNvPr id="6" name="text-6-5">
            <a:extLst xmlns:a="http://schemas.openxmlformats.org/drawingml/2006/main">
              <a:ext uri="{FF2B5EF4-FFF2-40B4-BE49-F238E27FC236}">
                <a16:creationId xmlns:a16="http://schemas.microsoft.com/office/drawing/2014/main" id="{ECD33776-18A5-4D01-AFD2-EC39E1EE0BFB}"/>
              </a:ext>
            </a:extLst>
          </p:cNvPr>
          <p:cNvSpPr>
            <a:spLocks xmlns:a="http://schemas.openxmlformats.org/drawingml/2006/main" noGrp="1"/>
          </p:cNvSpPr>
          <p:nvPr/>
        </p:nvSpPr>
        <p:spPr>
          <a:xfrm xmlns:a="http://schemas.openxmlformats.org/drawingml/2006/main">
            <a:off x="7581900" y="2686050"/>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AF9F6"/>
                </a:solidFill>
                <a:latin typeface="Arial"/>
                <a:ea typeface="Arial"/>
                <a:cs typeface="Arial"/>
              </a:defRPr>
            </a:defPPr>
          </a:lstStyle>
          <a:p xmlns:a="http://schemas.openxmlformats.org/drawingml/2006/main">
            <a:pPr>
              <a:defRPr sz="1950" b="0">
                <a:solidFill>
                  <a:srgbClr val="FAF9F6"/>
                </a:solidFill>
                <a:latin typeface="Arial"/>
                <a:ea typeface="Arial"/>
                <a:cs typeface="Arial"/>
              </a:defRPr>
            </a:pPr>
            <a:r>
              <a:rPr sz="1950" b="0">
                <a:solidFill>
                  <a:srgbClr val="FAF9F6"/>
                </a:solidFill>
                <a:latin typeface="Arial"/>
                <a:ea typeface="Arial"/>
                <a:cs typeface="Arial"/>
              </a:rPr>
              <a:t>Generated HTML and CSS</a:t>
            </a:r>
          </a:p>
          <a:p xmlns:a="http://schemas.openxmlformats.org/drawingml/2006/main">
            <a:pPr>
              <a:defRPr sz="1950" b="0">
                <a:solidFill>
                  <a:srgbClr val="FAF9F6"/>
                </a:solidFill>
                <a:latin typeface="Arial"/>
                <a:ea typeface="Arial"/>
                <a:cs typeface="Arial"/>
              </a:defRPr>
            </a:pPr>
            <a:r>
              <a:rPr sz="1950" b="0">
                <a:solidFill>
                  <a:srgbClr val="FAF9F6"/>
                </a:solidFill>
                <a:latin typeface="Arial"/>
                <a:ea typeface="Arial"/>
                <a:cs typeface="Arial"/>
              </a:rPr>
              <a:t>plus selection behavior</a:t>
            </a:r>
          </a:p>
        </p:txBody>
      </p:sp>
      <p:sp>
        <p:nvSpPr>
          <p:cNvPr id="7" name="text-6-6">
            <a:extLst xmlns:a="http://schemas.openxmlformats.org/drawingml/2006/main">
              <a:ext uri="{FF2B5EF4-FFF2-40B4-BE49-F238E27FC236}">
                <a16:creationId xmlns:a16="http://schemas.microsoft.com/office/drawing/2014/main" id="{8AC48577-482D-49A0-9422-7AA218318553}"/>
              </a:ext>
            </a:extLst>
          </p:cNvPr>
          <p:cNvSpPr>
            <a:spLocks xmlns:a="http://schemas.openxmlformats.org/drawingml/2006/main" noGrp="1"/>
          </p:cNvSpPr>
          <p:nvPr/>
        </p:nvSpPr>
        <p:spPr>
          <a:xfrm xmlns:a="http://schemas.openxmlformats.org/drawingml/2006/main">
            <a:off x="7581900" y="409575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D7ED8B"/>
                </a:solidFill>
                <a:latin typeface="Arial"/>
                <a:ea typeface="Arial"/>
                <a:cs typeface="Arial"/>
              </a:defRPr>
            </a:defPPr>
          </a:lstStyle>
          <a:p xmlns:a="http://schemas.openxmlformats.org/drawingml/2006/main">
            <a:pPr>
              <a:defRPr sz="2250" b="1">
                <a:solidFill>
                  <a:srgbClr val="D7ED8B"/>
                </a:solidFill>
                <a:latin typeface="Arial"/>
                <a:ea typeface="Arial"/>
                <a:cs typeface="Arial"/>
              </a:defRPr>
            </a:pPr>
            <a:r>
              <a:rPr sz="2250" b="1">
                <a:solidFill>
                  <a:srgbClr val="D7ED8B"/>
                </a:solidFill>
                <a:latin typeface="Arial"/>
                <a:ea typeface="Arial"/>
                <a:cs typeface="Arial"/>
              </a:rPr>
              <a:t>Portable export</a:t>
            </a:r>
          </a:p>
        </p:txBody>
      </p:sp>
      <p:sp>
        <p:nvSpPr>
          <p:cNvPr id="8" name="text-6-7">
            <a:extLst xmlns:a="http://schemas.openxmlformats.org/drawingml/2006/main">
              <a:ext uri="{FF2B5EF4-FFF2-40B4-BE49-F238E27FC236}">
                <a16:creationId xmlns:a16="http://schemas.microsoft.com/office/drawing/2014/main" id="{B3405077-DA13-4951-B3AD-4353761BD634}"/>
              </a:ext>
            </a:extLst>
          </p:cNvPr>
          <p:cNvSpPr>
            <a:spLocks xmlns:a="http://schemas.openxmlformats.org/drawingml/2006/main" noGrp="1"/>
          </p:cNvSpPr>
          <p:nvPr/>
        </p:nvSpPr>
        <p:spPr>
          <a:xfrm xmlns:a="http://schemas.openxmlformats.org/drawingml/2006/main">
            <a:off x="7581900" y="4724400"/>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AF9F6"/>
                </a:solidFill>
                <a:latin typeface="Arial"/>
                <a:ea typeface="Arial"/>
                <a:cs typeface="Arial"/>
              </a:defRPr>
            </a:defPPr>
          </a:lstStyle>
          <a:p xmlns:a="http://schemas.openxmlformats.org/drawingml/2006/main">
            <a:pPr>
              <a:defRPr sz="1950" b="0">
                <a:solidFill>
                  <a:srgbClr val="FAF9F6"/>
                </a:solidFill>
                <a:latin typeface="Arial"/>
                <a:ea typeface="Arial"/>
                <a:cs typeface="Arial"/>
              </a:defRPr>
            </a:pPr>
            <a:r>
              <a:rPr sz="1950" b="0">
                <a:solidFill>
                  <a:srgbClr val="FAF9F6"/>
                </a:solidFill>
                <a:latin typeface="Arial"/>
                <a:ea typeface="Arial"/>
                <a:cs typeface="Arial"/>
              </a:rPr>
              <a:t>The same page markup</a:t>
            </a:r>
          </a:p>
          <a:p xmlns:a="http://schemas.openxmlformats.org/drawingml/2006/main">
            <a:pPr>
              <a:defRPr sz="1950" b="0">
                <a:solidFill>
                  <a:srgbClr val="FAF9F6"/>
                </a:solidFill>
                <a:latin typeface="Arial"/>
                <a:ea typeface="Arial"/>
                <a:cs typeface="Arial"/>
              </a:defRPr>
            </a:pPr>
            <a:r>
              <a:rPr sz="1950" b="0">
                <a:solidFill>
                  <a:srgbClr val="FAF9F6"/>
                </a:solidFill>
                <a:latin typeface="Arial"/>
                <a:ea typeface="Arial"/>
                <a:cs typeface="Arial"/>
              </a:rPr>
              <a:t>without editor scripts</a:t>
            </a:r>
          </a:p>
        </p:txBody>
      </p:sp>
    </p:spTree>
    <p:extLst>
      <p:ext uri="{BB962C8B-B14F-4D97-AF65-F5344CB8AC3E}">
        <p14:creationId xmlns:p14="http://schemas.microsoft.com/office/powerpoint/2010/main" val="315344787"/>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text-7-0">
            <a:extLst xmlns:a="http://schemas.openxmlformats.org/drawingml/2006/main">
              <a:ext uri="{FF2B5EF4-FFF2-40B4-BE49-F238E27FC236}">
                <a16:creationId xmlns:a16="http://schemas.microsoft.com/office/drawing/2014/main" id="{89202E1F-BDE5-440B-BAD9-CCF852522E39}"/>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Project data and persistence</a:t>
            </a:r>
          </a:p>
        </p:txBody>
      </p:sp>
      <p:sp>
        <p:nvSpPr>
          <p:cNvPr id="2" name="text-7-1">
            <a:extLst xmlns:a="http://schemas.openxmlformats.org/drawingml/2006/main">
              <a:ext uri="{FF2B5EF4-FFF2-40B4-BE49-F238E27FC236}">
                <a16:creationId xmlns:a16="http://schemas.microsoft.com/office/drawing/2014/main" id="{77B03948-710B-4235-A782-939271203B58}"/>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EBD27C37-E15A-4EB1-BD3F-69DE391DC352}"/>
              </a:ext>
            </a:extLst>
          </p:cNvPr>
          <p:cNvGraphicFramePr/>
          <p:nvPr/>
        </p:nvGraphicFramePr>
        <p:xfrm>
          <a:off xmlns:a="http://schemas.openxmlformats.org/drawingml/2006/main" x="628650" y="1762125"/>
          <a:ext xmlns:a="http://schemas.openxmlformats.org/drawingml/2006/main" cx="10858500" cy="3143250"/>
        </p:xfrm>
        <a:graphic xmlns:a="http://schemas.openxmlformats.org/drawingml/2006/main">
          <a:graphicData uri="http://schemas.openxmlformats.org/drawingml/2006/table">
            <a:tbl>
              <a:tblPr/>
              <a:tblGrid>
                <a:gridCol w="3619500"/>
                <a:gridCol w="7239000"/>
              </a:tblGrid>
              <a:tr h="628650">
                <a:tc>
                  <a:txBody>
                    <a:bodyPr/>
                    <a:lstStyle/>
                    <a:p>
                      <a:r>
                        <a:rPr sz="1875" b="1">
                          <a:solidFill>
                            <a:srgbClr val="FAF9F6"/>
                          </a:solidFill>
                          <a:latin typeface="Arial"/>
                          <a:ea typeface="Arial"/>
                          <a:cs typeface="Arial"/>
                        </a:rPr>
                        <a:t>Record</a:t>
                      </a:r>
                    </a:p>
                  </a:txBody>
                  <a:tcPr marL="91440" marR="91440" marT="45720" marB="45720">
                    <a:solidFill>
                      <a:srgbClr val="263D32"/>
                    </a:solidFill>
                  </a:tcPr>
                </a:tc>
                <a:tc>
                  <a:txBody>
                    <a:bodyPr/>
                    <a:lstStyle/>
                    <a:p>
                      <a:r>
                        <a:rPr sz="1875" b="1">
                          <a:solidFill>
                            <a:srgbClr val="FAF9F6"/>
                          </a:solidFill>
                          <a:latin typeface="Arial"/>
                          <a:ea typeface="Arial"/>
                          <a:cs typeface="Arial"/>
                        </a:rPr>
                        <a:t>Stored information</a:t>
                      </a:r>
                    </a:p>
                  </a:txBody>
                  <a:tcPr marL="91440" marR="91440" marT="45720" marB="45720">
                    <a:solidFill>
                      <a:srgbClr val="263D32"/>
                    </a:solidFill>
                  </a:tcPr>
                </a:tc>
              </a:tr>
              <a:tr h="628650">
                <a:tc>
                  <a:txBody>
                    <a:bodyPr/>
                    <a:lstStyle/>
                    <a:p>
                      <a:r>
                        <a:rPr sz="1875" b="0">
                          <a:solidFill>
                            <a:srgbClr val="263D32"/>
                          </a:solidFill>
                          <a:latin typeface="Arial"/>
                          <a:ea typeface="Arial"/>
                          <a:cs typeface="Arial"/>
                        </a:rPr>
                        <a:t>Page</a:t>
                      </a:r>
                    </a:p>
                  </a:txBody>
                  <a:tcPr marL="91440" marR="91440" marT="45720" marB="45720">
                    <a:solidFill>
                      <a:srgbClr val="FFFFFF"/>
                    </a:solidFill>
                  </a:tcPr>
                </a:tc>
                <a:tc>
                  <a:txBody>
                    <a:bodyPr/>
                    <a:lstStyle/>
                    <a:p>
                      <a:r>
                        <a:rPr sz="1875" b="0">
                          <a:solidFill>
                            <a:srgbClr val="263D32"/>
                          </a:solidFill>
                          <a:latin typeface="Arial"/>
                          <a:ea typeface="Arial"/>
                          <a:cs typeface="Arial"/>
                        </a:rPr>
                        <a:t>Version, theme, ordered sections</a:t>
                      </a:r>
                    </a:p>
                  </a:txBody>
                  <a:tcPr marL="91440" marR="91440" marT="45720" marB="45720">
                    <a:solidFill>
                      <a:srgbClr val="FFFFFF"/>
                    </a:solidFill>
                  </a:tcPr>
                </a:tc>
              </a:tr>
              <a:tr h="628650">
                <a:tc>
                  <a:txBody>
                    <a:bodyPr/>
                    <a:lstStyle/>
                    <a:p>
                      <a:r>
                        <a:rPr sz="1875" b="0">
                          <a:solidFill>
                            <a:srgbClr val="263D32"/>
                          </a:solidFill>
                          <a:latin typeface="Arial"/>
                          <a:ea typeface="Arial"/>
                          <a:cs typeface="Arial"/>
                        </a:rPr>
                        <a:t>Project</a:t>
                      </a:r>
                    </a:p>
                  </a:txBody>
                  <a:tcPr marL="91440" marR="91440" marT="45720" marB="45720">
                    <a:solidFill>
                      <a:srgbClr val="F1F3EA"/>
                    </a:solidFill>
                  </a:tcPr>
                </a:tc>
                <a:tc>
                  <a:txBody>
                    <a:bodyPr/>
                    <a:lstStyle/>
                    <a:p>
                      <a:r>
                        <a:rPr sz="1875" b="0">
                          <a:solidFill>
                            <a:srgbClr val="263D32"/>
                          </a:solidFill>
                          <a:latin typeface="Arial"/>
                          <a:ea typeface="Arial"/>
                          <a:cs typeface="Arial"/>
                        </a:rPr>
                        <a:t>Page, name, owner, creation/update timestamps</a:t>
                      </a:r>
                    </a:p>
                  </a:txBody>
                  <a:tcPr marL="91440" marR="91440" marT="45720" marB="45720">
                    <a:solidFill>
                      <a:srgbClr val="F1F3EA"/>
                    </a:solidFill>
                  </a:tcPr>
                </a:tc>
              </a:tr>
              <a:tr h="628650">
                <a:tc>
                  <a:txBody>
                    <a:bodyPr/>
                    <a:lstStyle/>
                    <a:p>
                      <a:r>
                        <a:rPr sz="1875" b="0">
                          <a:solidFill>
                            <a:srgbClr val="263D32"/>
                          </a:solidFill>
                          <a:latin typeface="Arial"/>
                          <a:ea typeface="Arial"/>
                          <a:cs typeface="Arial"/>
                        </a:rPr>
                        <a:t>User</a:t>
                      </a:r>
                    </a:p>
                  </a:txBody>
                  <a:tcPr marL="91440" marR="91440" marT="45720" marB="45720">
                    <a:solidFill>
                      <a:srgbClr val="FFFFFF"/>
                    </a:solidFill>
                  </a:tcPr>
                </a:tc>
                <a:tc>
                  <a:txBody>
                    <a:bodyPr/>
                    <a:lstStyle/>
                    <a:p>
                      <a:r>
                        <a:rPr sz="1875" b="0">
                          <a:solidFill>
                            <a:srgbClr val="263D32"/>
                          </a:solidFill>
                          <a:latin typeface="Arial"/>
                          <a:ea typeface="Arial"/>
                          <a:cs typeface="Arial"/>
                        </a:rPr>
                        <a:t>Normalized email, salt, password hash</a:t>
                      </a:r>
                    </a:p>
                  </a:txBody>
                  <a:tcPr marL="91440" marR="91440" marT="45720" marB="45720">
                    <a:solidFill>
                      <a:srgbClr val="FFFFFF"/>
                    </a:solidFill>
                  </a:tcPr>
                </a:tc>
              </a:tr>
              <a:tr h="628650">
                <a:tc>
                  <a:txBody>
                    <a:bodyPr/>
                    <a:lstStyle/>
                    <a:p>
                      <a:r>
                        <a:rPr sz="1875" b="0">
                          <a:solidFill>
                            <a:srgbClr val="263D32"/>
                          </a:solidFill>
                          <a:latin typeface="Arial"/>
                          <a:ea typeface="Arial"/>
                          <a:cs typeface="Arial"/>
                        </a:rPr>
                        <a:t>Session</a:t>
                      </a:r>
                    </a:p>
                  </a:txBody>
                  <a:tcPr marL="91440" marR="91440" marT="45720" marB="45720">
                    <a:solidFill>
                      <a:srgbClr val="F1F3EA"/>
                    </a:solidFill>
                  </a:tcPr>
                </a:tc>
                <a:tc>
                  <a:txBody>
                    <a:bodyPr/>
                    <a:lstStyle/>
                    <a:p>
                      <a:r>
                        <a:rPr sz="1875" b="0">
                          <a:solidFill>
                            <a:srgbClr val="263D32"/>
                          </a:solidFill>
                          <a:latin typeface="Arial"/>
                          <a:ea typeface="Arial"/>
                          <a:cs typeface="Arial"/>
                        </a:rPr>
                        <a:t>Token hash, user identifier, expiry</a:t>
                      </a:r>
                    </a:p>
                  </a:txBody>
                  <a:tcPr marL="91440" marR="91440" marT="45720" marB="45720">
                    <a:solidFill>
                      <a:srgbClr val="F1F3EA"/>
                    </a:solidFill>
                  </a:tcPr>
                </a:tc>
              </a:tr>
            </a:tbl>
          </a:graphicData>
        </a:graphic>
      </p:graphicFrame>
      <p:sp>
        <p:nvSpPr>
          <p:cNvPr id="4" name="text-7-2">
            <a:extLst xmlns:a="http://schemas.openxmlformats.org/drawingml/2006/main">
              <a:ext uri="{FF2B5EF4-FFF2-40B4-BE49-F238E27FC236}">
                <a16:creationId xmlns:a16="http://schemas.microsoft.com/office/drawing/2014/main" id="{52E16244-7F7B-4A25-938E-B702C31CCF44}"/>
              </a:ext>
            </a:extLst>
          </p:cNvPr>
          <p:cNvSpPr>
            <a:spLocks xmlns:a="http://schemas.openxmlformats.org/drawingml/2006/main" noGrp="1"/>
          </p:cNvSpPr>
          <p:nvPr/>
        </p:nvSpPr>
        <p:spPr>
          <a:xfrm xmlns:a="http://schemas.openxmlformats.org/drawingml/2006/main">
            <a:off x="628650" y="54197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CA603B"/>
                </a:solidFill>
                <a:latin typeface="Arial"/>
                <a:ea typeface="Arial"/>
                <a:cs typeface="Arial"/>
              </a:defRPr>
            </a:defPPr>
          </a:lstStyle>
          <a:p xmlns:a="http://schemas.openxmlformats.org/drawingml/2006/main">
            <a:pPr>
              <a:defRPr sz="1875" b="1">
                <a:solidFill>
                  <a:srgbClr val="CA603B"/>
                </a:solidFill>
                <a:latin typeface="Arial"/>
                <a:ea typeface="Arial"/>
                <a:cs typeface="Arial"/>
              </a:defRPr>
            </a:pPr>
            <a:r>
              <a:rPr sz="1875" b="1">
                <a:solidFill>
                  <a:srgbClr val="CA603B"/>
                </a:solidFill>
                <a:latin typeface="Arial"/>
                <a:ea typeface="Arial"/>
                <a:cs typeface="Arial"/>
              </a:rPr>
              <a:t>Local JSON: tested     MongoDB adapter: integration pending</a:t>
            </a:r>
          </a:p>
        </p:txBody>
      </p:sp>
    </p:spTree>
    <p:extLst>
      <p:ext uri="{BB962C8B-B14F-4D97-AF65-F5344CB8AC3E}">
        <p14:creationId xmlns:p14="http://schemas.microsoft.com/office/powerpoint/2010/main" val="612868558"/>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text-8-0">
            <a:extLst xmlns:a="http://schemas.openxmlformats.org/drawingml/2006/main">
              <a:ext uri="{FF2B5EF4-FFF2-40B4-BE49-F238E27FC236}">
                <a16:creationId xmlns:a16="http://schemas.microsoft.com/office/drawing/2014/main" id="{EF7DE6AE-8C96-4C87-BD35-7AC6748105C6}"/>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Security boundaries</a:t>
            </a:r>
          </a:p>
        </p:txBody>
      </p:sp>
      <p:sp>
        <p:nvSpPr>
          <p:cNvPr id="2" name="text-8-1">
            <a:extLst xmlns:a="http://schemas.openxmlformats.org/drawingml/2006/main">
              <a:ext uri="{FF2B5EF4-FFF2-40B4-BE49-F238E27FC236}">
                <a16:creationId xmlns:a16="http://schemas.microsoft.com/office/drawing/2014/main" id="{40FCBA36-0F7F-48A8-85F7-BF5AACEE1B33}"/>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08</a:t>
            </a:r>
          </a:p>
        </p:txBody>
      </p:sp>
      <p:sp>
        <p:nvSpPr>
          <p:cNvPr id="3" name="text-8-2">
            <a:extLst xmlns:a="http://schemas.openxmlformats.org/drawingml/2006/main">
              <a:ext uri="{FF2B5EF4-FFF2-40B4-BE49-F238E27FC236}">
                <a16:creationId xmlns:a16="http://schemas.microsoft.com/office/drawing/2014/main" id="{CAD9EDFE-7011-49C1-98F9-B3BD8B3999EB}"/>
              </a:ext>
            </a:extLst>
          </p:cNvPr>
          <p:cNvSpPr>
            <a:spLocks xmlns:a="http://schemas.openxmlformats.org/drawingml/2006/main" noGrp="1"/>
          </p:cNvSpPr>
          <p:nvPr/>
        </p:nvSpPr>
        <p:spPr>
          <a:xfrm xmlns:a="http://schemas.openxmlformats.org/drawingml/2006/main">
            <a:off x="628650" y="16764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Generated content</a:t>
            </a:r>
          </a:p>
        </p:txBody>
      </p:sp>
      <p:sp>
        <p:nvSpPr>
          <p:cNvPr id="4" name="text-8-3">
            <a:extLst xmlns:a="http://schemas.openxmlformats.org/drawingml/2006/main">
              <a:ext uri="{FF2B5EF4-FFF2-40B4-BE49-F238E27FC236}">
                <a16:creationId xmlns:a16="http://schemas.microsoft.com/office/drawing/2014/main" id="{313D9BB6-9351-4D2E-8DB2-6E6627CF373B}"/>
              </a:ext>
            </a:extLst>
          </p:cNvPr>
          <p:cNvSpPr>
            <a:spLocks xmlns:a="http://schemas.openxmlformats.org/drawingml/2006/main" noGrp="1"/>
          </p:cNvSpPr>
          <p:nvPr/>
        </p:nvSpPr>
        <p:spPr>
          <a:xfrm xmlns:a="http://schemas.openxmlformats.org/drawingml/2006/main">
            <a:off x="628650" y="21717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Escaped text, constrained styles, restricted URL protocols.</a:t>
            </a:r>
          </a:p>
        </p:txBody>
      </p:sp>
      <p:sp>
        <p:nvSpPr>
          <p:cNvPr id="5" name="text-8-4">
            <a:extLst xmlns:a="http://schemas.openxmlformats.org/drawingml/2006/main">
              <a:ext uri="{FF2B5EF4-FFF2-40B4-BE49-F238E27FC236}">
                <a16:creationId xmlns:a16="http://schemas.microsoft.com/office/drawing/2014/main" id="{7872BE91-9929-49DC-8DE8-0E35168A6A23}"/>
              </a:ext>
            </a:extLst>
          </p:cNvPr>
          <p:cNvSpPr>
            <a:spLocks xmlns:a="http://schemas.openxmlformats.org/drawingml/2006/main" noGrp="1"/>
          </p:cNvSpPr>
          <p:nvPr/>
        </p:nvSpPr>
        <p:spPr>
          <a:xfrm xmlns:a="http://schemas.openxmlformats.org/drawingml/2006/main">
            <a:off x="628650" y="3000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Account projects</a:t>
            </a:r>
          </a:p>
        </p:txBody>
      </p:sp>
      <p:sp>
        <p:nvSpPr>
          <p:cNvPr id="6" name="text-8-5">
            <a:extLst xmlns:a="http://schemas.openxmlformats.org/drawingml/2006/main">
              <a:ext uri="{FF2B5EF4-FFF2-40B4-BE49-F238E27FC236}">
                <a16:creationId xmlns:a16="http://schemas.microsoft.com/office/drawing/2014/main" id="{E2ED9335-2555-4D22-A40F-ABEF04487C8C}"/>
              </a:ext>
            </a:extLst>
          </p:cNvPr>
          <p:cNvSpPr>
            <a:spLocks xmlns:a="http://schemas.openxmlformats.org/drawingml/2006/main" noGrp="1"/>
          </p:cNvSpPr>
          <p:nvPr/>
        </p:nvSpPr>
        <p:spPr>
          <a:xfrm xmlns:a="http://schemas.openxmlformats.org/drawingml/2006/main">
            <a:off x="628650" y="34956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Session authentication and owner checks on every project route.</a:t>
            </a:r>
          </a:p>
        </p:txBody>
      </p:sp>
      <p:sp>
        <p:nvSpPr>
          <p:cNvPr id="7" name="text-8-6">
            <a:extLst xmlns:a="http://schemas.openxmlformats.org/drawingml/2006/main">
              <a:ext uri="{FF2B5EF4-FFF2-40B4-BE49-F238E27FC236}">
                <a16:creationId xmlns:a16="http://schemas.microsoft.com/office/drawing/2014/main" id="{A86C9995-21DD-4534-88FE-96F4787128C4}"/>
              </a:ext>
            </a:extLst>
          </p:cNvPr>
          <p:cNvSpPr>
            <a:spLocks xmlns:a="http://schemas.openxmlformats.org/drawingml/2006/main" noGrp="1"/>
          </p:cNvSpPr>
          <p:nvPr/>
        </p:nvSpPr>
        <p:spPr>
          <a:xfrm xmlns:a="http://schemas.openxmlformats.org/drawingml/2006/main">
            <a:off x="628650" y="4324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Browser preview</a:t>
            </a:r>
          </a:p>
        </p:txBody>
      </p:sp>
      <p:sp>
        <p:nvSpPr>
          <p:cNvPr id="8" name="text-8-7">
            <a:extLst xmlns:a="http://schemas.openxmlformats.org/drawingml/2006/main">
              <a:ext uri="{FF2B5EF4-FFF2-40B4-BE49-F238E27FC236}">
                <a16:creationId xmlns:a16="http://schemas.microsoft.com/office/drawing/2014/main" id="{6FAEFF9F-918F-429E-9756-11F8E692C666}"/>
              </a:ext>
            </a:extLst>
          </p:cNvPr>
          <p:cNvSpPr>
            <a:spLocks xmlns:a="http://schemas.openxmlformats.org/drawingml/2006/main" noGrp="1"/>
          </p:cNvSpPr>
          <p:nvPr/>
        </p:nvSpPr>
        <p:spPr>
          <a:xfrm xmlns:a="http://schemas.openxmlformats.org/drawingml/2006/main">
            <a:off x="628650" y="48196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Sandboxed iframe and validated selection-message sources.</a:t>
            </a:r>
          </a:p>
        </p:txBody>
      </p:sp>
      <p:sp>
        <p:nvSpPr>
          <p:cNvPr id="9" name="text-8-8">
            <a:extLst xmlns:a="http://schemas.openxmlformats.org/drawingml/2006/main">
              <a:ext uri="{FF2B5EF4-FFF2-40B4-BE49-F238E27FC236}">
                <a16:creationId xmlns:a16="http://schemas.microsoft.com/office/drawing/2014/main" id="{7F248AF8-985C-4136-961D-159E4FDED36F}"/>
              </a:ext>
            </a:extLst>
          </p:cNvPr>
          <p:cNvSpPr>
            <a:spLocks xmlns:a="http://schemas.openxmlformats.org/drawingml/2006/main" noGrp="1"/>
          </p:cNvSpPr>
          <p:nvPr/>
        </p:nvSpPr>
        <p:spPr>
          <a:xfrm xmlns:a="http://schemas.openxmlformats.org/drawingml/2006/main">
            <a:off x="628650" y="59340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CA603B"/>
                </a:solidFill>
                <a:latin typeface="Arial"/>
                <a:ea typeface="Arial"/>
                <a:cs typeface="Arial"/>
              </a:defRPr>
            </a:defPPr>
          </a:lstStyle>
          <a:p xmlns:a="http://schemas.openxmlformats.org/drawingml/2006/main">
            <a:pPr>
              <a:defRPr sz="1575" b="1">
                <a:solidFill>
                  <a:srgbClr val="CA603B"/>
                </a:solidFill>
                <a:latin typeface="Arial"/>
                <a:ea typeface="Arial"/>
                <a:cs typeface="Arial"/>
              </a:defRPr>
            </a:pPr>
            <a:r>
              <a:rPr sz="1575" b="1">
                <a:solidFill>
                  <a:srgbClr val="CA603B"/>
                </a:solidFill>
                <a:latin typeface="Arial"/>
                <a:ea typeface="Arial"/>
                <a:cs typeface="Arial"/>
              </a:rPr>
              <a:t>Before deployment: strengthen password parameters and verify HTTPS sessions</a:t>
            </a:r>
          </a:p>
        </p:txBody>
      </p:sp>
    </p:spTree>
    <p:extLst>
      <p:ext uri="{BB962C8B-B14F-4D97-AF65-F5344CB8AC3E}">
        <p14:creationId xmlns:p14="http://schemas.microsoft.com/office/powerpoint/2010/main" val="945778459"/>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1" name="text-9-0">
            <a:extLst xmlns:a="http://schemas.openxmlformats.org/drawingml/2006/main">
              <a:ext uri="{FF2B5EF4-FFF2-40B4-BE49-F238E27FC236}">
                <a16:creationId xmlns:a16="http://schemas.microsoft.com/office/drawing/2014/main" id="{B8194B64-E409-4EF3-A83C-5E04F6F8833A}"/>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Responsive design and source inspection</a:t>
            </a:r>
          </a:p>
        </p:txBody>
      </p:sp>
      <p:sp>
        <p:nvSpPr>
          <p:cNvPr id="2" name="text-9-1">
            <a:extLst xmlns:a="http://schemas.openxmlformats.org/drawingml/2006/main">
              <a:ext uri="{FF2B5EF4-FFF2-40B4-BE49-F238E27FC236}">
                <a16:creationId xmlns:a16="http://schemas.microsoft.com/office/drawing/2014/main" id="{F4DD14BB-1F01-4ACC-9B6D-22A0C9DEEEC9}"/>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09</a:t>
            </a:r>
          </a:p>
        </p:txBody>
      </p:sp>
      <p:sp>
        <p:nvSpPr>
          <p:cNvPr id="3" name="text-9-2">
            <a:extLst xmlns:a="http://schemas.openxmlformats.org/drawingml/2006/main">
              <a:ext uri="{FF2B5EF4-FFF2-40B4-BE49-F238E27FC236}">
                <a16:creationId xmlns:a16="http://schemas.microsoft.com/office/drawing/2014/main" id="{2516DBE3-2A64-4AEB-9303-11E49C80056F}"/>
              </a:ext>
            </a:extLst>
          </p:cNvPr>
          <p:cNvSpPr>
            <a:spLocks xmlns:a="http://schemas.openxmlformats.org/drawingml/2006/main" noGrp="1"/>
          </p:cNvSpPr>
          <p:nvPr/>
        </p:nvSpPr>
        <p:spPr>
          <a:xfrm xmlns:a="http://schemas.openxmlformats.org/drawingml/2006/main">
            <a:off x="628650" y="19431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263D32"/>
                </a:solidFill>
                <a:latin typeface="Arial"/>
                <a:ea typeface="Arial"/>
                <a:cs typeface="Arial"/>
              </a:defRPr>
            </a:defPPr>
          </a:lstStyle>
          <a:p xmlns:a="http://schemas.openxmlformats.org/drawingml/2006/main">
            <a:pPr>
              <a:defRPr sz="6300" b="1">
                <a:solidFill>
                  <a:srgbClr val="263D32"/>
                </a:solidFill>
                <a:latin typeface="Arial"/>
                <a:ea typeface="Arial"/>
                <a:cs typeface="Arial"/>
              </a:defRPr>
            </a:pPr>
            <a:r>
              <a:rPr sz="6300" b="1">
                <a:solidFill>
                  <a:srgbClr val="263D32"/>
                </a:solidFill>
                <a:latin typeface="Arial"/>
                <a:ea typeface="Arial"/>
                <a:cs typeface="Arial"/>
              </a:rPr>
              <a:t>1200</a:t>
            </a:r>
          </a:p>
        </p:txBody>
      </p:sp>
      <p:sp>
        <p:nvSpPr>
          <p:cNvPr id="4" name="text-9-3">
            <a:extLst xmlns:a="http://schemas.openxmlformats.org/drawingml/2006/main">
              <a:ext uri="{FF2B5EF4-FFF2-40B4-BE49-F238E27FC236}">
                <a16:creationId xmlns:a16="http://schemas.microsoft.com/office/drawing/2014/main" id="{EB899C89-2F3D-43C3-9C46-297DDF3272D9}"/>
              </a:ext>
            </a:extLst>
          </p:cNvPr>
          <p:cNvSpPr>
            <a:spLocks xmlns:a="http://schemas.openxmlformats.org/drawingml/2006/main" noGrp="1"/>
          </p:cNvSpPr>
          <p:nvPr/>
        </p:nvSpPr>
        <p:spPr>
          <a:xfrm xmlns:a="http://schemas.openxmlformats.org/drawingml/2006/main">
            <a:off x="666750" y="3095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87561"/>
                </a:solidFill>
                <a:latin typeface="Arial"/>
                <a:ea typeface="Arial"/>
                <a:cs typeface="Arial"/>
              </a:defRPr>
            </a:defPPr>
          </a:lstStyle>
          <a:p xmlns:a="http://schemas.openxmlformats.org/drawingml/2006/main">
            <a:pPr>
              <a:defRPr sz="1800" b="0">
                <a:solidFill>
                  <a:srgbClr val="687561"/>
                </a:solidFill>
                <a:latin typeface="Arial"/>
                <a:ea typeface="Arial"/>
                <a:cs typeface="Arial"/>
              </a:defRPr>
            </a:pPr>
            <a:r>
              <a:rPr sz="1800" b="0">
                <a:solidFill>
                  <a:srgbClr val="687561"/>
                </a:solidFill>
                <a:latin typeface="Arial"/>
                <a:ea typeface="Arial"/>
                <a:cs typeface="Arial"/>
              </a:rPr>
              <a:t>Desktop / CSS pixels</a:t>
            </a:r>
          </a:p>
        </p:txBody>
      </p:sp>
      <p:sp>
        <p:nvSpPr>
          <p:cNvPr id="5" name="text-9-4">
            <a:extLst xmlns:a="http://schemas.openxmlformats.org/drawingml/2006/main">
              <a:ext uri="{FF2B5EF4-FFF2-40B4-BE49-F238E27FC236}">
                <a16:creationId xmlns:a16="http://schemas.microsoft.com/office/drawing/2014/main" id="{E6FF6A46-E9DE-4574-92AA-B441F31842DF}"/>
              </a:ext>
            </a:extLst>
          </p:cNvPr>
          <p:cNvSpPr>
            <a:spLocks xmlns:a="http://schemas.openxmlformats.org/drawingml/2006/main" noGrp="1"/>
          </p:cNvSpPr>
          <p:nvPr/>
        </p:nvSpPr>
        <p:spPr>
          <a:xfrm xmlns:a="http://schemas.openxmlformats.org/drawingml/2006/main">
            <a:off x="4371975" y="19431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263D32"/>
                </a:solidFill>
                <a:latin typeface="Arial"/>
                <a:ea typeface="Arial"/>
                <a:cs typeface="Arial"/>
              </a:defRPr>
            </a:defPPr>
          </a:lstStyle>
          <a:p xmlns:a="http://schemas.openxmlformats.org/drawingml/2006/main">
            <a:pPr>
              <a:defRPr sz="6300" b="1">
                <a:solidFill>
                  <a:srgbClr val="263D32"/>
                </a:solidFill>
                <a:latin typeface="Arial"/>
                <a:ea typeface="Arial"/>
                <a:cs typeface="Arial"/>
              </a:defRPr>
            </a:pPr>
            <a:r>
              <a:rPr sz="6300" b="1">
                <a:solidFill>
                  <a:srgbClr val="263D32"/>
                </a:solidFill>
                <a:latin typeface="Arial"/>
                <a:ea typeface="Arial"/>
                <a:cs typeface="Arial"/>
              </a:rPr>
              <a:t>768</a:t>
            </a:r>
          </a:p>
        </p:txBody>
      </p:sp>
      <p:sp>
        <p:nvSpPr>
          <p:cNvPr id="6" name="text-9-5">
            <a:extLst xmlns:a="http://schemas.openxmlformats.org/drawingml/2006/main">
              <a:ext uri="{FF2B5EF4-FFF2-40B4-BE49-F238E27FC236}">
                <a16:creationId xmlns:a16="http://schemas.microsoft.com/office/drawing/2014/main" id="{9E925034-758F-4AB8-8F1B-C83A627F2AA4}"/>
              </a:ext>
            </a:extLst>
          </p:cNvPr>
          <p:cNvSpPr>
            <a:spLocks xmlns:a="http://schemas.openxmlformats.org/drawingml/2006/main" noGrp="1"/>
          </p:cNvSpPr>
          <p:nvPr/>
        </p:nvSpPr>
        <p:spPr>
          <a:xfrm xmlns:a="http://schemas.openxmlformats.org/drawingml/2006/main">
            <a:off x="4410075" y="3095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87561"/>
                </a:solidFill>
                <a:latin typeface="Arial"/>
                <a:ea typeface="Arial"/>
                <a:cs typeface="Arial"/>
              </a:defRPr>
            </a:defPPr>
          </a:lstStyle>
          <a:p xmlns:a="http://schemas.openxmlformats.org/drawingml/2006/main">
            <a:pPr>
              <a:defRPr sz="1800" b="0">
                <a:solidFill>
                  <a:srgbClr val="687561"/>
                </a:solidFill>
                <a:latin typeface="Arial"/>
                <a:ea typeface="Arial"/>
                <a:cs typeface="Arial"/>
              </a:defRPr>
            </a:pPr>
            <a:r>
              <a:rPr sz="1800" b="0">
                <a:solidFill>
                  <a:srgbClr val="687561"/>
                </a:solidFill>
                <a:latin typeface="Arial"/>
                <a:ea typeface="Arial"/>
                <a:cs typeface="Arial"/>
              </a:rPr>
              <a:t>Tablet / CSS pixels</a:t>
            </a:r>
          </a:p>
        </p:txBody>
      </p:sp>
      <p:sp>
        <p:nvSpPr>
          <p:cNvPr id="7" name="text-9-6">
            <a:extLst xmlns:a="http://schemas.openxmlformats.org/drawingml/2006/main">
              <a:ext uri="{FF2B5EF4-FFF2-40B4-BE49-F238E27FC236}">
                <a16:creationId xmlns:a16="http://schemas.microsoft.com/office/drawing/2014/main" id="{D1079BFB-169B-49E5-9226-9E48BD1FFA41}"/>
              </a:ext>
            </a:extLst>
          </p:cNvPr>
          <p:cNvSpPr>
            <a:spLocks xmlns:a="http://schemas.openxmlformats.org/drawingml/2006/main" noGrp="1"/>
          </p:cNvSpPr>
          <p:nvPr/>
        </p:nvSpPr>
        <p:spPr>
          <a:xfrm xmlns:a="http://schemas.openxmlformats.org/drawingml/2006/main">
            <a:off x="8115300" y="19431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263D32"/>
                </a:solidFill>
                <a:latin typeface="Arial"/>
                <a:ea typeface="Arial"/>
                <a:cs typeface="Arial"/>
              </a:defRPr>
            </a:defPPr>
          </a:lstStyle>
          <a:p xmlns:a="http://schemas.openxmlformats.org/drawingml/2006/main">
            <a:pPr>
              <a:defRPr sz="6300" b="1">
                <a:solidFill>
                  <a:srgbClr val="263D32"/>
                </a:solidFill>
                <a:latin typeface="Arial"/>
                <a:ea typeface="Arial"/>
                <a:cs typeface="Arial"/>
              </a:defRPr>
            </a:pPr>
            <a:r>
              <a:rPr sz="6300" b="1">
                <a:solidFill>
                  <a:srgbClr val="263D32"/>
                </a:solidFill>
                <a:latin typeface="Arial"/>
                <a:ea typeface="Arial"/>
                <a:cs typeface="Arial"/>
              </a:rPr>
              <a:t>375</a:t>
            </a:r>
          </a:p>
        </p:txBody>
      </p:sp>
      <p:sp>
        <p:nvSpPr>
          <p:cNvPr id="8" name="text-9-7">
            <a:extLst xmlns:a="http://schemas.openxmlformats.org/drawingml/2006/main">
              <a:ext uri="{FF2B5EF4-FFF2-40B4-BE49-F238E27FC236}">
                <a16:creationId xmlns:a16="http://schemas.microsoft.com/office/drawing/2014/main" id="{E7AB0633-D51A-4162-9774-7993F37E2389}"/>
              </a:ext>
            </a:extLst>
          </p:cNvPr>
          <p:cNvSpPr>
            <a:spLocks xmlns:a="http://schemas.openxmlformats.org/drawingml/2006/main" noGrp="1"/>
          </p:cNvSpPr>
          <p:nvPr/>
        </p:nvSpPr>
        <p:spPr>
          <a:xfrm xmlns:a="http://schemas.openxmlformats.org/drawingml/2006/main">
            <a:off x="8153400" y="3095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87561"/>
                </a:solidFill>
                <a:latin typeface="Arial"/>
                <a:ea typeface="Arial"/>
                <a:cs typeface="Arial"/>
              </a:defRPr>
            </a:defPPr>
          </a:lstStyle>
          <a:p xmlns:a="http://schemas.openxmlformats.org/drawingml/2006/main">
            <a:pPr>
              <a:defRPr sz="1800" b="0">
                <a:solidFill>
                  <a:srgbClr val="687561"/>
                </a:solidFill>
                <a:latin typeface="Arial"/>
                <a:ea typeface="Arial"/>
                <a:cs typeface="Arial"/>
              </a:defRPr>
            </a:pPr>
            <a:r>
              <a:rPr sz="1800" b="0">
                <a:solidFill>
                  <a:srgbClr val="687561"/>
                </a:solidFill>
                <a:latin typeface="Arial"/>
                <a:ea typeface="Arial"/>
                <a:cs typeface="Arial"/>
              </a:rPr>
              <a:t>Mobile / CSS pixels</a:t>
            </a:r>
          </a:p>
        </p:txBody>
      </p:sp>
      <p:sp>
        <p:nvSpPr>
          <p:cNvPr id="9" name="text-9-8">
            <a:extLst xmlns:a="http://schemas.openxmlformats.org/drawingml/2006/main">
              <a:ext uri="{FF2B5EF4-FFF2-40B4-BE49-F238E27FC236}">
                <a16:creationId xmlns:a16="http://schemas.microsoft.com/office/drawing/2014/main" id="{59E455F9-41AE-447B-B0D8-62B96D094FAE}"/>
              </a:ext>
            </a:extLst>
          </p:cNvPr>
          <p:cNvSpPr>
            <a:spLocks xmlns:a="http://schemas.openxmlformats.org/drawingml/2006/main" noGrp="1"/>
          </p:cNvSpPr>
          <p:nvPr/>
        </p:nvSpPr>
        <p:spPr>
          <a:xfrm xmlns:a="http://schemas.openxmlformats.org/drawingml/2006/main">
            <a:off x="628650" y="4219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CA603B"/>
                </a:solidFill>
                <a:latin typeface="Arial"/>
                <a:ea typeface="Arial"/>
                <a:cs typeface="Arial"/>
              </a:defRPr>
            </a:defPPr>
          </a:lstStyle>
          <a:p xmlns:a="http://schemas.openxmlformats.org/drawingml/2006/main">
            <a:pPr>
              <a:defRPr sz="2550" b="1">
                <a:solidFill>
                  <a:srgbClr val="CA603B"/>
                </a:solidFill>
                <a:latin typeface="Arial"/>
                <a:ea typeface="Arial"/>
                <a:cs typeface="Arial"/>
              </a:defRPr>
            </a:pPr>
            <a:r>
              <a:rPr sz="2550" b="1">
                <a:solidFill>
                  <a:srgbClr val="CA603B"/>
                </a:solidFill>
                <a:latin typeface="Arial"/>
                <a:ea typeface="Arial"/>
                <a:cs typeface="Arial"/>
              </a:rPr>
              <a:t>Responsive rules belong to the exported site.</a:t>
            </a:r>
          </a:p>
        </p:txBody>
      </p:sp>
      <p:sp>
        <p:nvSpPr>
          <p:cNvPr id="10" name="text-9-9">
            <a:extLst xmlns:a="http://schemas.openxmlformats.org/drawingml/2006/main">
              <a:ext uri="{FF2B5EF4-FFF2-40B4-BE49-F238E27FC236}">
                <a16:creationId xmlns:a16="http://schemas.microsoft.com/office/drawing/2014/main" id="{8438186F-279E-498B-8139-B0B27A3A645E}"/>
              </a:ext>
            </a:extLst>
          </p:cNvPr>
          <p:cNvSpPr>
            <a:spLocks xmlns:a="http://schemas.openxmlformats.org/drawingml/2006/main" noGrp="1"/>
          </p:cNvSpPr>
          <p:nvPr/>
        </p:nvSpPr>
        <p:spPr>
          <a:xfrm xmlns:a="http://schemas.openxmlformats.org/drawingml/2006/main">
            <a:off x="628650" y="50768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The editor scales the canvas display while preserving the selected viewport width.</a:t>
            </a:r>
          </a:p>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Code view exposes the generated HTML and CSS as the document changes.</a:t>
            </a:r>
          </a:p>
        </p:txBody>
      </p:sp>
    </p:spTree>
    <p:extLst>
      <p:ext uri="{BB962C8B-B14F-4D97-AF65-F5344CB8AC3E}">
        <p14:creationId xmlns:p14="http://schemas.microsoft.com/office/powerpoint/2010/main" val="802310501"/>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text-10-0">
            <a:extLst xmlns:a="http://schemas.openxmlformats.org/drawingml/2006/main">
              <a:ext uri="{FF2B5EF4-FFF2-40B4-BE49-F238E27FC236}">
                <a16:creationId xmlns:a16="http://schemas.microsoft.com/office/drawing/2014/main" id="{05B3582E-C7DB-497D-972D-8C7924806235}"/>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Validation results</a:t>
            </a:r>
          </a:p>
        </p:txBody>
      </p:sp>
      <p:sp>
        <p:nvSpPr>
          <p:cNvPr id="2" name="text-10-1">
            <a:extLst xmlns:a="http://schemas.openxmlformats.org/drawingml/2006/main">
              <a:ext uri="{FF2B5EF4-FFF2-40B4-BE49-F238E27FC236}">
                <a16:creationId xmlns:a16="http://schemas.microsoft.com/office/drawing/2014/main" id="{CB3A38CF-38C0-4B6E-A74D-1CEB0B5BB1BB}"/>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10</a:t>
            </a:r>
          </a:p>
        </p:txBody>
      </p:sp>
      <p:sp>
        <p:nvSpPr>
          <p:cNvPr id="3" name="text-10-2">
            <a:extLst xmlns:a="http://schemas.openxmlformats.org/drawingml/2006/main">
              <a:ext uri="{FF2B5EF4-FFF2-40B4-BE49-F238E27FC236}">
                <a16:creationId xmlns:a16="http://schemas.microsoft.com/office/drawing/2014/main" id="{025F8F05-BC52-4461-A163-4646717A2717}"/>
              </a:ext>
            </a:extLst>
          </p:cNvPr>
          <p:cNvSpPr>
            <a:spLocks xmlns:a="http://schemas.openxmlformats.org/drawingml/2006/main" noGrp="1"/>
          </p:cNvSpPr>
          <p:nvPr/>
        </p:nvSpPr>
        <p:spPr>
          <a:xfrm xmlns:a="http://schemas.openxmlformats.org/drawingml/2006/main">
            <a:off x="628650" y="170497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450" b="1">
                <a:solidFill>
                  <a:srgbClr val="263D32"/>
                </a:solidFill>
                <a:latin typeface="Arial"/>
                <a:ea typeface="Arial"/>
                <a:cs typeface="Arial"/>
              </a:defRPr>
            </a:defPPr>
          </a:lstStyle>
          <a:p xmlns:a="http://schemas.openxmlformats.org/drawingml/2006/main">
            <a:pPr>
              <a:defRPr sz="6450" b="1">
                <a:solidFill>
                  <a:srgbClr val="263D32"/>
                </a:solidFill>
                <a:latin typeface="Arial"/>
                <a:ea typeface="Arial"/>
                <a:cs typeface="Arial"/>
              </a:defRPr>
            </a:pPr>
            <a:r>
              <a:rPr sz="6450" b="1">
                <a:solidFill>
                  <a:srgbClr val="263D32"/>
                </a:solidFill>
                <a:latin typeface="Arial"/>
                <a:ea typeface="Arial"/>
                <a:cs typeface="Arial"/>
              </a:rPr>
              <a:t>6 / 6</a:t>
            </a:r>
          </a:p>
        </p:txBody>
      </p:sp>
      <p:sp>
        <p:nvSpPr>
          <p:cNvPr id="4" name="text-10-3">
            <a:extLst xmlns:a="http://schemas.openxmlformats.org/drawingml/2006/main">
              <a:ext uri="{FF2B5EF4-FFF2-40B4-BE49-F238E27FC236}">
                <a16:creationId xmlns:a16="http://schemas.microsoft.com/office/drawing/2014/main" id="{5AF5C606-67E2-43D4-AAC3-07F38A6C913F}"/>
              </a:ext>
            </a:extLst>
          </p:cNvPr>
          <p:cNvSpPr>
            <a:spLocks xmlns:a="http://schemas.openxmlformats.org/drawingml/2006/main" noGrp="1"/>
          </p:cNvSpPr>
          <p:nvPr/>
        </p:nvSpPr>
        <p:spPr>
          <a:xfrm xmlns:a="http://schemas.openxmlformats.org/drawingml/2006/main">
            <a:off x="666750" y="2838450"/>
            <a:ext cx="3857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87561"/>
                </a:solidFill>
                <a:latin typeface="Arial"/>
                <a:ea typeface="Arial"/>
                <a:cs typeface="Arial"/>
              </a:defRPr>
            </a:defPPr>
          </a:lstStyle>
          <a:p xmlns:a="http://schemas.openxmlformats.org/drawingml/2006/main">
            <a:pPr>
              <a:defRPr sz="1875" b="0">
                <a:solidFill>
                  <a:srgbClr val="687561"/>
                </a:solidFill>
                <a:latin typeface="Arial"/>
                <a:ea typeface="Arial"/>
                <a:cs typeface="Arial"/>
              </a:defRPr>
            </a:pPr>
            <a:r>
              <a:rPr sz="1875" b="0">
                <a:solidFill>
                  <a:srgbClr val="687561"/>
                </a:solidFill>
                <a:latin typeface="Arial"/>
                <a:ea typeface="Arial"/>
                <a:cs typeface="Arial"/>
              </a:rPr>
              <a:t>automated tests passed</a:t>
            </a:r>
          </a:p>
        </p:txBody>
      </p:sp>
      <p:sp>
        <p:nvSpPr>
          <p:cNvPr id="5" name="text-10-4">
            <a:extLst xmlns:a="http://schemas.openxmlformats.org/drawingml/2006/main">
              <a:ext uri="{FF2B5EF4-FFF2-40B4-BE49-F238E27FC236}">
                <a16:creationId xmlns:a16="http://schemas.microsoft.com/office/drawing/2014/main" id="{3D91124F-4B48-4CF0-AB31-B5EC40E29052}"/>
              </a:ext>
            </a:extLst>
          </p:cNvPr>
          <p:cNvSpPr>
            <a:spLocks xmlns:a="http://schemas.openxmlformats.org/drawingml/2006/main" noGrp="1"/>
          </p:cNvSpPr>
          <p:nvPr/>
        </p:nvSpPr>
        <p:spPr>
          <a:xfrm xmlns:a="http://schemas.openxmlformats.org/drawingml/2006/main">
            <a:off x="666750" y="38481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CA603B"/>
                </a:solidFill>
                <a:latin typeface="Arial"/>
                <a:ea typeface="Arial"/>
                <a:cs typeface="Arial"/>
              </a:defRPr>
            </a:defPPr>
          </a:lstStyle>
          <a:p xmlns:a="http://schemas.openxmlformats.org/drawingml/2006/main">
            <a:pPr>
              <a:defRPr sz="2325" b="1">
                <a:solidFill>
                  <a:srgbClr val="CA603B"/>
                </a:solidFill>
                <a:latin typeface="Arial"/>
                <a:ea typeface="Arial"/>
                <a:cs typeface="Arial"/>
              </a:defRPr>
            </a:pPr>
            <a:r>
              <a:rPr sz="2325" b="1">
                <a:solidFill>
                  <a:srgbClr val="CA603B"/>
                </a:solidFill>
                <a:latin typeface="Arial"/>
                <a:ea typeface="Arial"/>
                <a:cs typeface="Arial"/>
              </a:rPr>
              <a:t>Production build</a:t>
            </a:r>
          </a:p>
          <a:p xmlns:a="http://schemas.openxmlformats.org/drawingml/2006/main">
            <a:pPr>
              <a:defRPr sz="2325" b="1">
                <a:solidFill>
                  <a:srgbClr val="CA603B"/>
                </a:solidFill>
                <a:latin typeface="Arial"/>
                <a:ea typeface="Arial"/>
                <a:cs typeface="Arial"/>
              </a:defRPr>
            </a:pPr>
            <a:r>
              <a:rPr sz="2325" b="1">
                <a:solidFill>
                  <a:srgbClr val="CA603B"/>
                </a:solidFill>
                <a:latin typeface="Arial"/>
                <a:ea typeface="Arial"/>
                <a:cs typeface="Arial"/>
              </a:rPr>
              <a:t>completed successfully</a:t>
            </a:r>
          </a:p>
        </p:txBody>
      </p:sp>
      <p:graphicFrame>
        <p:nvGraphicFramePr>
          <p:cNvPr id="6" name="">
            <a:extLst xmlns:a="http://schemas.openxmlformats.org/drawingml/2006/main">
              <a:ext uri="{FF2B5EF4-FFF2-40B4-BE49-F238E27FC236}">
                <a16:creationId xmlns:a16="http://schemas.microsoft.com/office/drawing/2014/main" id="{A4113382-ABB1-4CDF-8776-F3DFEA54677F}"/>
              </a:ext>
            </a:extLst>
          </p:cNvPr>
          <p:cNvGraphicFramePr/>
          <p:nvPr/>
        </p:nvGraphicFramePr>
        <p:xfrm>
          <a:off xmlns:a="http://schemas.openxmlformats.org/drawingml/2006/main" x="5067300" y="1733550"/>
          <a:ext xmlns:a="http://schemas.openxmlformats.org/drawingml/2006/main" cx="6477000" cy="3648075"/>
        </p:xfrm>
        <a:graphic xmlns:a="http://schemas.openxmlformats.org/drawingml/2006/main">
          <a:graphicData uri="http://schemas.openxmlformats.org/drawingml/2006/table">
            <a:tbl>
              <a:tblPr/>
              <a:tblGrid>
                <a:gridCol w="4476750"/>
                <a:gridCol w="2000250"/>
              </a:tblGrid>
              <a:tr h="608013">
                <a:tc>
                  <a:txBody>
                    <a:bodyPr/>
                    <a:lstStyle/>
                    <a:p>
                      <a:r>
                        <a:rPr sz="1800" b="1">
                          <a:solidFill>
                            <a:srgbClr val="FAF9F6"/>
                          </a:solidFill>
                          <a:latin typeface="Arial"/>
                          <a:ea typeface="Arial"/>
                          <a:cs typeface="Arial"/>
                        </a:rPr>
                        <a:t>Verified area</a:t>
                      </a:r>
                    </a:p>
                  </a:txBody>
                  <a:tcPr marL="91440" marR="91440" marT="45720" marB="45720">
                    <a:solidFill>
                      <a:srgbClr val="263D32"/>
                    </a:solidFill>
                  </a:tcPr>
                </a:tc>
                <a:tc>
                  <a:txBody>
                    <a:bodyPr/>
                    <a:lstStyle/>
                    <a:p>
                      <a:r>
                        <a:rPr sz="1800" b="1">
                          <a:solidFill>
                            <a:srgbClr val="FAF9F6"/>
                          </a:solidFill>
                          <a:latin typeface="Arial"/>
                          <a:ea typeface="Arial"/>
                          <a:cs typeface="Arial"/>
                        </a:rPr>
                        <a:t>Result</a:t>
                      </a:r>
                    </a:p>
                  </a:txBody>
                  <a:tcPr marL="91440" marR="91440" marT="45720" marB="45720">
                    <a:solidFill>
                      <a:srgbClr val="263D32"/>
                    </a:solidFill>
                  </a:tcPr>
                </a:tc>
              </a:tr>
              <a:tr h="608013">
                <a:tc>
                  <a:txBody>
                    <a:bodyPr/>
                    <a:lstStyle/>
                    <a:p>
                      <a:r>
                        <a:rPr sz="1800" b="0">
                          <a:solidFill>
                            <a:srgbClr val="263D32"/>
                          </a:solidFill>
                          <a:latin typeface="Arial"/>
                          <a:ea typeface="Arial"/>
                          <a:cs typeface="Arial"/>
                        </a:rPr>
                        <a:t>Templates and sections</a:t>
                      </a:r>
                    </a:p>
                  </a:txBody>
                  <a:tcPr marL="91440" marR="91440" marT="45720" marB="45720">
                    <a:solidFill>
                      <a:srgbClr val="FFFFFF"/>
                    </a:solidFill>
                  </a:tcPr>
                </a:tc>
                <a:tc>
                  <a:txBody>
                    <a:bodyPr/>
                    <a:lstStyle/>
                    <a:p>
                      <a:r>
                        <a:rPr sz="1800" b="0">
                          <a:solidFill>
                            <a:srgbClr val="263D32"/>
                          </a:solidFill>
                          <a:latin typeface="Arial"/>
                          <a:ea typeface="Arial"/>
                          <a:cs typeface="Arial"/>
                        </a:rPr>
                        <a:t>Pass</a:t>
                      </a:r>
                    </a:p>
                  </a:txBody>
                  <a:tcPr marL="91440" marR="91440" marT="45720" marB="45720">
                    <a:solidFill>
                      <a:srgbClr val="FFFFFF"/>
                    </a:solidFill>
                  </a:tcPr>
                </a:tc>
              </a:tr>
              <a:tr h="608013">
                <a:tc>
                  <a:txBody>
                    <a:bodyPr/>
                    <a:lstStyle/>
                    <a:p>
                      <a:r>
                        <a:rPr sz="1800" b="0">
                          <a:solidFill>
                            <a:srgbClr val="263D32"/>
                          </a:solidFill>
                          <a:latin typeface="Arial"/>
                          <a:ea typeface="Arial"/>
                          <a:cs typeface="Arial"/>
                        </a:rPr>
                        <a:t>Export structure</a:t>
                      </a:r>
                    </a:p>
                  </a:txBody>
                  <a:tcPr marL="91440" marR="91440" marT="45720" marB="45720">
                    <a:solidFill>
                      <a:srgbClr val="F1F3EA"/>
                    </a:solidFill>
                  </a:tcPr>
                </a:tc>
                <a:tc>
                  <a:txBody>
                    <a:bodyPr/>
                    <a:lstStyle/>
                    <a:p>
                      <a:r>
                        <a:rPr sz="1800" b="0">
                          <a:solidFill>
                            <a:srgbClr val="263D32"/>
                          </a:solidFill>
                          <a:latin typeface="Arial"/>
                          <a:ea typeface="Arial"/>
                          <a:cs typeface="Arial"/>
                        </a:rPr>
                        <a:t>Pass</a:t>
                      </a:r>
                    </a:p>
                  </a:txBody>
                  <a:tcPr marL="91440" marR="91440" marT="45720" marB="45720">
                    <a:solidFill>
                      <a:srgbClr val="F1F3EA"/>
                    </a:solidFill>
                  </a:tcPr>
                </a:tc>
              </a:tr>
              <a:tr h="608013">
                <a:tc>
                  <a:txBody>
                    <a:bodyPr/>
                    <a:lstStyle/>
                    <a:p>
                      <a:r>
                        <a:rPr sz="1800" b="0">
                          <a:solidFill>
                            <a:srgbClr val="263D32"/>
                          </a:solidFill>
                          <a:latin typeface="Arial"/>
                          <a:ea typeface="Arial"/>
                          <a:cs typeface="Arial"/>
                        </a:rPr>
                        <a:t>Escaping and validation</a:t>
                      </a:r>
                    </a:p>
                  </a:txBody>
                  <a:tcPr marL="91440" marR="91440" marT="45720" marB="45720">
                    <a:solidFill>
                      <a:srgbClr val="FFFFFF"/>
                    </a:solidFill>
                  </a:tcPr>
                </a:tc>
                <a:tc>
                  <a:txBody>
                    <a:bodyPr/>
                    <a:lstStyle/>
                    <a:p>
                      <a:r>
                        <a:rPr sz="1800" b="0">
                          <a:solidFill>
                            <a:srgbClr val="263D32"/>
                          </a:solidFill>
                          <a:latin typeface="Arial"/>
                          <a:ea typeface="Arial"/>
                          <a:cs typeface="Arial"/>
                        </a:rPr>
                        <a:t>Pass</a:t>
                      </a:r>
                    </a:p>
                  </a:txBody>
                  <a:tcPr marL="91440" marR="91440" marT="45720" marB="45720">
                    <a:solidFill>
                      <a:srgbClr val="FFFFFF"/>
                    </a:solidFill>
                  </a:tcPr>
                </a:tc>
              </a:tr>
              <a:tr h="608013">
                <a:tc>
                  <a:txBody>
                    <a:bodyPr/>
                    <a:lstStyle/>
                    <a:p>
                      <a:r>
                        <a:rPr sz="1800" b="0">
                          <a:solidFill>
                            <a:srgbClr val="263D32"/>
                          </a:solidFill>
                          <a:latin typeface="Arial"/>
                          <a:ea typeface="Arial"/>
                          <a:cs typeface="Arial"/>
                        </a:rPr>
                        <a:t>Immutable reordering</a:t>
                      </a:r>
                    </a:p>
                  </a:txBody>
                  <a:tcPr marL="91440" marR="91440" marT="45720" marB="45720">
                    <a:solidFill>
                      <a:srgbClr val="F1F3EA"/>
                    </a:solidFill>
                  </a:tcPr>
                </a:tc>
                <a:tc>
                  <a:txBody>
                    <a:bodyPr/>
                    <a:lstStyle/>
                    <a:p>
                      <a:r>
                        <a:rPr sz="1800" b="0">
                          <a:solidFill>
                            <a:srgbClr val="263D32"/>
                          </a:solidFill>
                          <a:latin typeface="Arial"/>
                          <a:ea typeface="Arial"/>
                          <a:cs typeface="Arial"/>
                        </a:rPr>
                        <a:t>Pass</a:t>
                      </a:r>
                    </a:p>
                  </a:txBody>
                  <a:tcPr marL="91440" marR="91440" marT="45720" marB="45720">
                    <a:solidFill>
                      <a:srgbClr val="F1F3EA"/>
                    </a:solidFill>
                  </a:tcPr>
                </a:tc>
              </a:tr>
              <a:tr h="608013">
                <a:tc>
                  <a:txBody>
                    <a:bodyPr/>
                    <a:lstStyle/>
                    <a:p>
                      <a:r>
                        <a:rPr sz="1800" b="0">
                          <a:solidFill>
                            <a:srgbClr val="263D32"/>
                          </a:solidFill>
                          <a:latin typeface="Arial"/>
                          <a:ea typeface="Arial"/>
                          <a:cs typeface="Arial"/>
                        </a:rPr>
                        <a:t>Accounts and ownership</a:t>
                      </a:r>
                    </a:p>
                  </a:txBody>
                  <a:tcPr marL="91440" marR="91440" marT="45720" marB="45720">
                    <a:solidFill>
                      <a:srgbClr val="FFFFFF"/>
                    </a:solidFill>
                  </a:tcPr>
                </a:tc>
                <a:tc>
                  <a:txBody>
                    <a:bodyPr/>
                    <a:lstStyle/>
                    <a:p>
                      <a:r>
                        <a:rPr sz="1800" b="0">
                          <a:solidFill>
                            <a:srgbClr val="263D32"/>
                          </a:solidFill>
                          <a:latin typeface="Arial"/>
                          <a:ea typeface="Arial"/>
                          <a:cs typeface="Arial"/>
                        </a:rPr>
                        <a:t>Pass</a:t>
                      </a:r>
                    </a:p>
                  </a:txBody>
                  <a:tcPr marL="91440" marR="91440" marT="45720" marB="45720">
                    <a:solidFill>
                      <a:srgbClr val="FFFFFF"/>
                    </a:solidFill>
                  </a:tcPr>
                </a:tc>
              </a:tr>
            </a:tbl>
          </a:graphicData>
        </a:graphic>
      </p:graphicFrame>
      <p:sp>
        <p:nvSpPr>
          <p:cNvPr id="7" name="text-10-5">
            <a:extLst xmlns:a="http://schemas.openxmlformats.org/drawingml/2006/main">
              <a:ext uri="{FF2B5EF4-FFF2-40B4-BE49-F238E27FC236}">
                <a16:creationId xmlns:a16="http://schemas.microsoft.com/office/drawing/2014/main" id="{A7807465-6438-4B48-A90A-E37ADB9725FC}"/>
              </a:ext>
            </a:extLst>
          </p:cNvPr>
          <p:cNvSpPr>
            <a:spLocks xmlns:a="http://schemas.openxmlformats.org/drawingml/2006/main" noGrp="1"/>
          </p:cNvSpPr>
          <p:nvPr/>
        </p:nvSpPr>
        <p:spPr>
          <a:xfrm xmlns:a="http://schemas.openxmlformats.org/drawingml/2006/main">
            <a:off x="628650" y="5810250"/>
            <a:ext cx="1074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87561"/>
                </a:solidFill>
                <a:latin typeface="Arial"/>
                <a:ea typeface="Arial"/>
                <a:cs typeface="Arial"/>
              </a:defRPr>
            </a:defPPr>
          </a:lstStyle>
          <a:p xmlns:a="http://schemas.openxmlformats.org/drawingml/2006/main">
            <a:pPr>
              <a:defRPr sz="1725" b="0">
                <a:solidFill>
                  <a:srgbClr val="687561"/>
                </a:solidFill>
                <a:latin typeface="Arial"/>
                <a:ea typeface="Arial"/>
                <a:cs typeface="Arial"/>
              </a:defRPr>
            </a:pPr>
            <a:r>
              <a:rPr sz="1725" b="0">
                <a:solidFill>
                  <a:srgbClr val="687561"/>
                </a:solidFill>
                <a:latin typeface="Arial"/>
                <a:ea typeface="Arial"/>
                <a:cs typeface="Arial"/>
              </a:rPr>
              <a:t>Limited browser checks observed. MongoDB and full end-to-end testing remain pending.</a:t>
            </a:r>
          </a:p>
        </p:txBody>
      </p:sp>
    </p:spTree>
    <p:extLst>
      <p:ext uri="{BB962C8B-B14F-4D97-AF65-F5344CB8AC3E}">
        <p14:creationId xmlns:p14="http://schemas.microsoft.com/office/powerpoint/2010/main" val="1816810230"/>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text-11-0">
            <a:extLst xmlns:a="http://schemas.openxmlformats.org/drawingml/2006/main">
              <a:ext uri="{FF2B5EF4-FFF2-40B4-BE49-F238E27FC236}">
                <a16:creationId xmlns:a16="http://schemas.microsoft.com/office/drawing/2014/main" id="{E93AC878-6BB8-46D7-8BE0-B62E220FCC6C}"/>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63D32"/>
                </a:solidFill>
                <a:latin typeface="Arial"/>
                <a:ea typeface="Arial"/>
                <a:cs typeface="Arial"/>
              </a:defRPr>
            </a:defPPr>
          </a:lstStyle>
          <a:p xmlns:a="http://schemas.openxmlformats.org/drawingml/2006/main">
            <a:pPr>
              <a:defRPr sz="3300" b="1">
                <a:solidFill>
                  <a:srgbClr val="263D32"/>
                </a:solidFill>
                <a:latin typeface="Arial"/>
                <a:ea typeface="Arial"/>
                <a:cs typeface="Arial"/>
              </a:defRPr>
            </a:pPr>
            <a:r>
              <a:rPr sz="3300" b="1">
                <a:solidFill>
                  <a:srgbClr val="263D32"/>
                </a:solidFill>
                <a:latin typeface="Arial"/>
                <a:ea typeface="Arial"/>
                <a:cs typeface="Arial"/>
              </a:rPr>
              <a:t>Limitations and next steps</a:t>
            </a:r>
          </a:p>
        </p:txBody>
      </p:sp>
      <p:sp>
        <p:nvSpPr>
          <p:cNvPr id="2" name="text-11-1">
            <a:extLst xmlns:a="http://schemas.openxmlformats.org/drawingml/2006/main">
              <a:ext uri="{FF2B5EF4-FFF2-40B4-BE49-F238E27FC236}">
                <a16:creationId xmlns:a16="http://schemas.microsoft.com/office/drawing/2014/main" id="{C00E2276-DF4F-4589-9306-83BFC2816544}"/>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8D9987"/>
                </a:solidFill>
                <a:latin typeface="Arial"/>
                <a:ea typeface="Arial"/>
                <a:cs typeface="Arial"/>
              </a:defRPr>
            </a:defPPr>
          </a:lstStyle>
          <a:p xmlns:a="http://schemas.openxmlformats.org/drawingml/2006/main">
            <a:pPr>
              <a:defRPr sz="1125" b="0">
                <a:solidFill>
                  <a:srgbClr val="8D9987"/>
                </a:solidFill>
                <a:latin typeface="Arial"/>
                <a:ea typeface="Arial"/>
                <a:cs typeface="Arial"/>
              </a:defRPr>
            </a:pPr>
            <a:r>
              <a:rPr sz="1125" b="0">
                <a:solidFill>
                  <a:srgbClr val="8D9987"/>
                </a:solidFill>
                <a:latin typeface="Arial"/>
                <a:ea typeface="Arial"/>
                <a:cs typeface="Arial"/>
              </a:rPr>
              <a:t>11</a:t>
            </a:r>
          </a:p>
        </p:txBody>
      </p:sp>
      <p:sp>
        <p:nvSpPr>
          <p:cNvPr id="3" name="text-11-2">
            <a:extLst xmlns:a="http://schemas.openxmlformats.org/drawingml/2006/main">
              <a:ext uri="{FF2B5EF4-FFF2-40B4-BE49-F238E27FC236}">
                <a16:creationId xmlns:a16="http://schemas.microsoft.com/office/drawing/2014/main" id="{55363A5E-8E67-459C-9C8C-C6174A8BFB96}"/>
              </a:ext>
            </a:extLst>
          </p:cNvPr>
          <p:cNvSpPr>
            <a:spLocks xmlns:a="http://schemas.openxmlformats.org/drawingml/2006/main" noGrp="1"/>
          </p:cNvSpPr>
          <p:nvPr/>
        </p:nvSpPr>
        <p:spPr>
          <a:xfrm xmlns:a="http://schemas.openxmlformats.org/drawingml/2006/main">
            <a:off x="628650" y="16287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Complete the validation</a:t>
            </a:r>
          </a:p>
        </p:txBody>
      </p:sp>
      <p:sp>
        <p:nvSpPr>
          <p:cNvPr id="4" name="text-11-3">
            <a:extLst xmlns:a="http://schemas.openxmlformats.org/drawingml/2006/main">
              <a:ext uri="{FF2B5EF4-FFF2-40B4-BE49-F238E27FC236}">
                <a16:creationId xmlns:a16="http://schemas.microsoft.com/office/drawing/2014/main" id="{D249AA1B-8E82-462D-B227-B0CE04D5AF42}"/>
              </a:ext>
            </a:extLst>
          </p:cNvPr>
          <p:cNvSpPr>
            <a:spLocks xmlns:a="http://schemas.openxmlformats.org/drawingml/2006/main" noGrp="1"/>
          </p:cNvSpPr>
          <p:nvPr/>
        </p:nvSpPr>
        <p:spPr>
          <a:xfrm xmlns:a="http://schemas.openxmlformats.org/drawingml/2006/main">
            <a:off x="628650" y="21240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Exercise editing, saving, export, and MongoDB in a live environment.</a:t>
            </a:r>
          </a:p>
        </p:txBody>
      </p:sp>
      <p:sp>
        <p:nvSpPr>
          <p:cNvPr id="5" name="text-11-4">
            <a:extLst xmlns:a="http://schemas.openxmlformats.org/drawingml/2006/main">
              <a:ext uri="{FF2B5EF4-FFF2-40B4-BE49-F238E27FC236}">
                <a16:creationId xmlns:a16="http://schemas.microsoft.com/office/drawing/2014/main" id="{0D76D8DA-442F-44D9-BC21-021DB0D26053}"/>
              </a:ext>
            </a:extLst>
          </p:cNvPr>
          <p:cNvSpPr>
            <a:spLocks xmlns:a="http://schemas.openxmlformats.org/drawingml/2006/main" noGrp="1"/>
          </p:cNvSpPr>
          <p:nvPr/>
        </p:nvSpPr>
        <p:spPr>
          <a:xfrm xmlns:a="http://schemas.openxmlformats.org/drawingml/2006/main">
            <a:off x="628650" y="30861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Strengthen the current product</a:t>
            </a:r>
          </a:p>
        </p:txBody>
      </p:sp>
      <p:sp>
        <p:nvSpPr>
          <p:cNvPr id="6" name="text-11-5">
            <a:extLst xmlns:a="http://schemas.openxmlformats.org/drawingml/2006/main">
              <a:ext uri="{FF2B5EF4-FFF2-40B4-BE49-F238E27FC236}">
                <a16:creationId xmlns:a16="http://schemas.microsoft.com/office/drawing/2014/main" id="{20C4EDE4-33FB-43DC-9C84-012F1BDDA8CD}"/>
              </a:ext>
            </a:extLst>
          </p:cNvPr>
          <p:cNvSpPr>
            <a:spLocks xmlns:a="http://schemas.openxmlformats.org/drawingml/2006/main" noGrp="1"/>
          </p:cNvSpPr>
          <p:nvPr/>
        </p:nvSpPr>
        <p:spPr>
          <a:xfrm xmlns:a="http://schemas.openxmlformats.org/drawingml/2006/main">
            <a:off x="628650" y="35814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Add unique anchors, image uploads, and deployment controls.</a:t>
            </a:r>
          </a:p>
        </p:txBody>
      </p:sp>
      <p:sp>
        <p:nvSpPr>
          <p:cNvPr id="7" name="text-11-6">
            <a:extLst xmlns:a="http://schemas.openxmlformats.org/drawingml/2006/main">
              <a:ext uri="{FF2B5EF4-FFF2-40B4-BE49-F238E27FC236}">
                <a16:creationId xmlns:a16="http://schemas.microsoft.com/office/drawing/2014/main" id="{64EB4463-D0A3-4775-8D3B-544BB7095DD9}"/>
              </a:ext>
            </a:extLst>
          </p:cNvPr>
          <p:cNvSpPr>
            <a:spLocks xmlns:a="http://schemas.openxmlformats.org/drawingml/2006/main" noGrp="1"/>
          </p:cNvSpPr>
          <p:nvPr/>
        </p:nvSpPr>
        <p:spPr>
          <a:xfrm xmlns:a="http://schemas.openxmlformats.org/drawingml/2006/main">
            <a:off x="628650" y="45434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A603B"/>
                </a:solidFill>
                <a:latin typeface="Arial"/>
                <a:ea typeface="Arial"/>
                <a:cs typeface="Arial"/>
              </a:defRPr>
            </a:defPPr>
          </a:lstStyle>
          <a:p xmlns:a="http://schemas.openxmlformats.org/drawingml/2006/main">
            <a:pPr>
              <a:defRPr sz="2175" b="1">
                <a:solidFill>
                  <a:srgbClr val="CA603B"/>
                </a:solidFill>
                <a:latin typeface="Arial"/>
                <a:ea typeface="Arial"/>
                <a:cs typeface="Arial"/>
              </a:defRPr>
            </a:pPr>
            <a:r>
              <a:rPr sz="2175" b="1">
                <a:solidFill>
                  <a:srgbClr val="CA603B"/>
                </a:solidFill>
                <a:latin typeface="Arial"/>
                <a:ea typeface="Arial"/>
                <a:cs typeface="Arial"/>
              </a:rPr>
              <a:t>Evaluate before expanding</a:t>
            </a:r>
          </a:p>
        </p:txBody>
      </p:sp>
      <p:sp>
        <p:nvSpPr>
          <p:cNvPr id="8" name="text-11-7">
            <a:extLst xmlns:a="http://schemas.openxmlformats.org/drawingml/2006/main">
              <a:ext uri="{FF2B5EF4-FFF2-40B4-BE49-F238E27FC236}">
                <a16:creationId xmlns:a16="http://schemas.microsoft.com/office/drawing/2014/main" id="{C443FB59-5204-4684-8786-6E50969E3337}"/>
              </a:ext>
            </a:extLst>
          </p:cNvPr>
          <p:cNvSpPr>
            <a:spLocks xmlns:a="http://schemas.openxmlformats.org/drawingml/2006/main" noGrp="1"/>
          </p:cNvSpPr>
          <p:nvPr/>
        </p:nvSpPr>
        <p:spPr>
          <a:xfrm xmlns:a="http://schemas.openxmlformats.org/drawingml/2006/main">
            <a:off x="628650" y="50387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63D32"/>
                </a:solidFill>
                <a:latin typeface="Arial"/>
                <a:ea typeface="Arial"/>
                <a:cs typeface="Arial"/>
              </a:defRPr>
            </a:defPPr>
          </a:lstStyle>
          <a:p xmlns:a="http://schemas.openxmlformats.org/drawingml/2006/main">
            <a:pPr>
              <a:defRPr sz="2025" b="0">
                <a:solidFill>
                  <a:srgbClr val="263D32"/>
                </a:solidFill>
                <a:latin typeface="Arial"/>
                <a:ea typeface="Arial"/>
                <a:cs typeface="Arial"/>
              </a:defRPr>
            </a:pPr>
            <a:r>
              <a:rPr sz="2025" b="0">
                <a:solidFill>
                  <a:srgbClr val="263D32"/>
                </a:solidFill>
                <a:latin typeface="Arial"/>
                <a:ea typeface="Arial"/>
                <a:cs typeface="Arial"/>
              </a:rPr>
              <a:t>Measure real authoring tasks before adding multi-page support.</a:t>
            </a:r>
          </a:p>
        </p:txBody>
      </p:sp>
    </p:spTree>
    <p:extLst>
      <p:ext uri="{BB962C8B-B14F-4D97-AF65-F5344CB8AC3E}">
        <p14:creationId xmlns:p14="http://schemas.microsoft.com/office/powerpoint/2010/main" val="1456379689"/>
      </p:ext>
    </p:extLst>
  </p:cSld>
</p:sld>
</file>

<file path=ppt/slides/slide12.xml><?xml version="1.0" encoding="utf-8"?>
<p:sld xmlns:p="http://schemas.openxmlformats.org/presentationml/2006/main">
  <p:cSld>
    <p:bg>
      <p:bgPr>
        <a:solidFill xmlns:a="http://schemas.openxmlformats.org/drawingml/2006/main">
          <a:srgbClr val="263D32"/>
        </a:solidFill>
      </p:bgPr>
    </p:bg>
    <p:spTree>
      <p:nvGrpSpPr>
        <p:cNvPr id="1" name=""/>
        <p:cNvGrpSpPr/>
        <p:nvPr/>
      </p:nvGrpSpPr>
      <p:grpSpPr>
        <a:xfrm xmlns:a="http://schemas.openxmlformats.org/drawingml/2006/main"/>
      </p:grpSpPr>
      <p:sp>
        <p:nvSpPr>
          <p:cNvPr id="6" name="text-12-0">
            <a:extLst xmlns:a="http://schemas.openxmlformats.org/drawingml/2006/main">
              <a:ext uri="{FF2B5EF4-FFF2-40B4-BE49-F238E27FC236}">
                <a16:creationId xmlns:a16="http://schemas.microsoft.com/office/drawing/2014/main" id="{43743EF4-F4A5-4888-AD0C-96CA44BBF24F}"/>
              </a:ext>
            </a:extLst>
          </p:cNvPr>
          <p:cNvSpPr>
            <a:spLocks xmlns:a="http://schemas.openxmlformats.org/drawingml/2006/main" noGrp="1"/>
          </p:cNvSpPr>
          <p:nvPr/>
        </p:nvSpPr>
        <p:spPr>
          <a:xfrm xmlns:a="http://schemas.openxmlformats.org/drawingml/2006/main">
            <a:off x="628650" y="5143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AF9F6"/>
                </a:solidFill>
                <a:latin typeface="Arial"/>
                <a:ea typeface="Arial"/>
                <a:cs typeface="Arial"/>
              </a:defRPr>
            </a:defPPr>
          </a:lstStyle>
          <a:p xmlns:a="http://schemas.openxmlformats.org/drawingml/2006/main">
            <a:pPr>
              <a:defRPr sz="3300" b="1">
                <a:solidFill>
                  <a:srgbClr val="FAF9F6"/>
                </a:solidFill>
                <a:latin typeface="Arial"/>
                <a:ea typeface="Arial"/>
                <a:cs typeface="Arial"/>
              </a:defRPr>
            </a:pPr>
            <a:r>
              <a:rPr sz="3300" b="1">
                <a:solidFill>
                  <a:srgbClr val="FAF9F6"/>
                </a:solidFill>
                <a:latin typeface="Arial"/>
                <a:ea typeface="Arial"/>
                <a:cs typeface="Arial"/>
              </a:rPr>
              <a:t>Demonstration and conclusion</a:t>
            </a:r>
          </a:p>
        </p:txBody>
      </p:sp>
      <p:sp>
        <p:nvSpPr>
          <p:cNvPr id="2" name="text-12-1">
            <a:extLst xmlns:a="http://schemas.openxmlformats.org/drawingml/2006/main">
              <a:ext uri="{FF2B5EF4-FFF2-40B4-BE49-F238E27FC236}">
                <a16:creationId xmlns:a16="http://schemas.microsoft.com/office/drawing/2014/main" id="{FC4A71E1-F4CB-4505-A500-1AC98BD655B5}"/>
              </a:ext>
            </a:extLst>
          </p:cNvPr>
          <p:cNvSpPr>
            <a:spLocks xmlns:a="http://schemas.openxmlformats.org/drawingml/2006/main" noGrp="1"/>
          </p:cNvSpPr>
          <p:nvPr/>
        </p:nvSpPr>
        <p:spPr>
          <a:xfrm xmlns:a="http://schemas.openxmlformats.org/drawingml/2006/main">
            <a:off x="11001375" y="63246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BBDA8"/>
                </a:solidFill>
                <a:latin typeface="Arial"/>
                <a:ea typeface="Arial"/>
                <a:cs typeface="Arial"/>
              </a:defRPr>
            </a:defPPr>
          </a:lstStyle>
          <a:p xmlns:a="http://schemas.openxmlformats.org/drawingml/2006/main">
            <a:pPr>
              <a:defRPr sz="1125" b="0">
                <a:solidFill>
                  <a:srgbClr val="ABBDA8"/>
                </a:solidFill>
                <a:latin typeface="Arial"/>
                <a:ea typeface="Arial"/>
                <a:cs typeface="Arial"/>
              </a:defRPr>
            </a:pPr>
            <a:r>
              <a:rPr sz="1125" b="0">
                <a:solidFill>
                  <a:srgbClr val="ABBDA8"/>
                </a:solidFill>
                <a:latin typeface="Arial"/>
                <a:ea typeface="Arial"/>
                <a:cs typeface="Arial"/>
              </a:rPr>
              <a:t>12</a:t>
            </a:r>
          </a:p>
        </p:txBody>
      </p:sp>
      <p:sp>
        <p:nvSpPr>
          <p:cNvPr id="3" name="text-12-2">
            <a:extLst xmlns:a="http://schemas.openxmlformats.org/drawingml/2006/main">
              <a:ext uri="{FF2B5EF4-FFF2-40B4-BE49-F238E27FC236}">
                <a16:creationId xmlns:a16="http://schemas.microsoft.com/office/drawing/2014/main" id="{F747EC5A-42D8-45E1-85DC-31938742AF1B}"/>
              </a:ext>
            </a:extLst>
          </p:cNvPr>
          <p:cNvSpPr>
            <a:spLocks xmlns:a="http://schemas.openxmlformats.org/drawingml/2006/main" noGrp="1"/>
          </p:cNvSpPr>
          <p:nvPr/>
        </p:nvSpPr>
        <p:spPr>
          <a:xfrm xmlns:a="http://schemas.openxmlformats.org/drawingml/2006/main">
            <a:off x="628650" y="1819275"/>
            <a:ext cx="10763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AF9F6"/>
                </a:solidFill>
                <a:latin typeface="Arial"/>
                <a:ea typeface="Arial"/>
                <a:cs typeface="Arial"/>
              </a:defRPr>
            </a:defPPr>
          </a:lstStyle>
          <a:p xmlns:a="http://schemas.openxmlformats.org/drawingml/2006/main">
            <a:pPr>
              <a:defRPr sz="3900" b="1">
                <a:solidFill>
                  <a:srgbClr val="FAF9F6"/>
                </a:solidFill>
                <a:latin typeface="Arial"/>
                <a:ea typeface="Arial"/>
                <a:cs typeface="Arial"/>
              </a:defRPr>
            </a:pPr>
            <a:r>
              <a:rPr sz="3900" b="1">
                <a:solidFill>
                  <a:srgbClr val="FAF9F6"/>
                </a:solidFill>
                <a:latin typeface="Arial"/>
                <a:ea typeface="Arial"/>
                <a:cs typeface="Arial"/>
              </a:rPr>
              <a:t>A structured editor.</a:t>
            </a:r>
          </a:p>
          <a:p xmlns:a="http://schemas.openxmlformats.org/drawingml/2006/main">
            <a:pPr>
              <a:defRPr sz="3900" b="1">
                <a:solidFill>
                  <a:srgbClr val="FAF9F6"/>
                </a:solidFill>
                <a:latin typeface="Arial"/>
                <a:ea typeface="Arial"/>
                <a:cs typeface="Arial"/>
              </a:defRPr>
            </a:pPr>
            <a:r>
              <a:rPr sz="3900" b="1">
                <a:solidFill>
                  <a:srgbClr val="FAF9F6"/>
                </a:solidFill>
                <a:latin typeface="Arial"/>
                <a:ea typeface="Arial"/>
                <a:cs typeface="Arial"/>
              </a:rPr>
              <a:t>A website you can take with you.</a:t>
            </a:r>
          </a:p>
        </p:txBody>
      </p:sp>
      <p:sp>
        <p:nvSpPr>
          <p:cNvPr id="4" name="text-12-3">
            <a:extLst xmlns:a="http://schemas.openxmlformats.org/drawingml/2006/main">
              <a:ext uri="{FF2B5EF4-FFF2-40B4-BE49-F238E27FC236}">
                <a16:creationId xmlns:a16="http://schemas.microsoft.com/office/drawing/2014/main" id="{259A638D-5917-432A-B9BC-5CC3DAC07435}"/>
              </a:ext>
            </a:extLst>
          </p:cNvPr>
          <p:cNvSpPr>
            <a:spLocks xmlns:a="http://schemas.openxmlformats.org/drawingml/2006/main" noGrp="1"/>
          </p:cNvSpPr>
          <p:nvPr/>
        </p:nvSpPr>
        <p:spPr>
          <a:xfrm xmlns:a="http://schemas.openxmlformats.org/drawingml/2006/main">
            <a:off x="628650" y="39338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D7ED8B"/>
                </a:solidFill>
                <a:latin typeface="Arial"/>
                <a:ea typeface="Arial"/>
                <a:cs typeface="Arial"/>
              </a:defRPr>
            </a:defPPr>
          </a:lstStyle>
          <a:p xmlns:a="http://schemas.openxmlformats.org/drawingml/2006/main">
            <a:pPr>
              <a:defRPr sz="2025" b="0">
                <a:solidFill>
                  <a:srgbClr val="D7ED8B"/>
                </a:solidFill>
                <a:latin typeface="Arial"/>
                <a:ea typeface="Arial"/>
                <a:cs typeface="Arial"/>
              </a:defRPr>
            </a:pPr>
            <a:r>
              <a:rPr sz="2025" b="0">
                <a:solidFill>
                  <a:srgbClr val="D7ED8B"/>
                </a:solidFill>
                <a:latin typeface="Arial"/>
                <a:ea typeface="Arial"/>
                <a:cs typeface="Arial"/>
              </a:rPr>
              <a:t>Template selection  /  Content editing  /  Section movement</a:t>
            </a:r>
          </a:p>
          <a:p xmlns:a="http://schemas.openxmlformats.org/drawingml/2006/main">
            <a:pPr>
              <a:defRPr sz="2025" b="0">
                <a:solidFill>
                  <a:srgbClr val="D7ED8B"/>
                </a:solidFill>
                <a:latin typeface="Arial"/>
                <a:ea typeface="Arial"/>
                <a:cs typeface="Arial"/>
              </a:defRPr>
            </a:pPr>
            <a:r>
              <a:rPr sz="2025" b="0">
                <a:solidFill>
                  <a:srgbClr val="D7ED8B"/>
                </a:solidFill>
                <a:latin typeface="Arial"/>
                <a:ea typeface="Arial"/>
                <a:cs typeface="Arial"/>
              </a:rPr>
              <a:t>Mobile preview  /  Generated code  /  Website export</a:t>
            </a:r>
          </a:p>
        </p:txBody>
      </p:sp>
      <p:sp>
        <p:nvSpPr>
          <p:cNvPr id="5" name="text-12-4">
            <a:extLst xmlns:a="http://schemas.openxmlformats.org/drawingml/2006/main">
              <a:ext uri="{FF2B5EF4-FFF2-40B4-BE49-F238E27FC236}">
                <a16:creationId xmlns:a16="http://schemas.microsoft.com/office/drawing/2014/main" id="{771BD7FA-AD44-403F-8536-10E650AC1AD6}"/>
              </a:ext>
            </a:extLst>
          </p:cNvPr>
          <p:cNvSpPr>
            <a:spLocks xmlns:a="http://schemas.openxmlformats.org/drawingml/2006/main" noGrp="1"/>
          </p:cNvSpPr>
          <p:nvPr/>
        </p:nvSpPr>
        <p:spPr>
          <a:xfrm xmlns:a="http://schemas.openxmlformats.org/drawingml/2006/main">
            <a:off x="62865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AF9F6"/>
                </a:solidFill>
                <a:latin typeface="Arial"/>
                <a:ea typeface="Arial"/>
                <a:cs typeface="Arial"/>
              </a:defRPr>
            </a:defPPr>
          </a:lstStyle>
          <a:p xmlns:a="http://schemas.openxmlformats.org/drawingml/2006/main">
            <a:pPr>
              <a:defRPr sz="2400" b="0">
                <a:solidFill>
                  <a:srgbClr val="FAF9F6"/>
                </a:solidFill>
                <a:latin typeface="Arial"/>
                <a:ea typeface="Arial"/>
                <a:cs typeface="Arial"/>
              </a:defRPr>
            </a:pPr>
            <a:r>
              <a:rPr sz="2400" b="0">
                <a:solidFill>
                  <a:srgbClr val="FAF9F6"/>
                </a:solidFill>
                <a:latin typeface="Arial"/>
                <a:ea typeface="Arial"/>
                <a:cs typeface="Arial"/>
              </a:rPr>
              <a:t>Questions</a:t>
            </a:r>
          </a:p>
        </p:txBody>
      </p:sp>
    </p:spTree>
    <p:extLst>
      <p:ext uri="{BB962C8B-B14F-4D97-AF65-F5344CB8AC3E}">
        <p14:creationId xmlns:p14="http://schemas.microsoft.com/office/powerpoint/2010/main" val="1152121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2026-10-09T16:36:56.3010000Z</dcterms:created>
  <dcterms:modified xsi:type="dcterms:W3CDTF">2026-10-09T16:36:56.3010000Z</dcterms:modified>
</coreProperties>
</file>